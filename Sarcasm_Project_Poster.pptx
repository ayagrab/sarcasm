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8"/>
  </p:normalViewPr>
  <p:slideViewPr>
    <p:cSldViewPr snapToGrid="0" snapToObjects="1">
      <p:cViewPr>
        <p:scale>
          <a:sx n="48" d="100"/>
          <a:sy n="48" d="100"/>
        </p:scale>
        <p:origin x="168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6000" cy="5940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0000"/>
            <a:ext cx="30276000" cy="216000"/>
          </a:xfrm>
          <a:prstGeom prst="rect">
            <a:avLst/>
          </a:prstGeom>
          <a:solidFill>
            <a:srgbClr val="4E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8000" y="792000"/>
            <a:ext cx="28980000" cy="151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450" b="1" i="0">
                <a:solidFill>
                  <a:srgbClr val="FFFFFF"/>
                </a:solidFill>
                <a:latin typeface="Calibri"/>
              </a:rPr>
              <a:t>Sarcasm Interpretation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376000"/>
            <a:ext cx="28980000" cy="6102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50" b="0" i="1" dirty="0">
                <a:solidFill>
                  <a:srgbClr val="CFE3DC"/>
                </a:solidFill>
                <a:latin typeface="Calibri"/>
              </a:rPr>
              <a:t>A </a:t>
            </a:r>
            <a:r>
              <a:rPr sz="3850" b="0" i="1" dirty="0" err="1">
                <a:solidFill>
                  <a:srgbClr val="CFE3DC"/>
                </a:solidFill>
                <a:latin typeface="Calibri"/>
              </a:rPr>
              <a:t>TwoPhase</a:t>
            </a:r>
            <a:r>
              <a:rPr sz="3850" b="0" i="1" dirty="0">
                <a:solidFill>
                  <a:srgbClr val="CFE3DC"/>
                </a:solidFill>
                <a:latin typeface="Calibri"/>
              </a:rPr>
              <a:t> Study in </a:t>
            </a:r>
            <a:r>
              <a:rPr sz="3850" b="0" i="1" dirty="0" err="1">
                <a:solidFill>
                  <a:srgbClr val="CFE3DC"/>
                </a:solidFill>
                <a:latin typeface="Calibri"/>
              </a:rPr>
              <a:t>SarcasticText</a:t>
            </a:r>
            <a:r>
              <a:rPr sz="3850" b="0" i="1" dirty="0">
                <a:solidFill>
                  <a:srgbClr val="CFE3DC"/>
                </a:solidFill>
                <a:latin typeface="Calibri"/>
              </a:rPr>
              <a:t> Neutralization and Classification </a:t>
            </a:r>
            <a:r>
              <a:rPr lang="en-IL" sz="3850" b="0" i="1" dirty="0">
                <a:solidFill>
                  <a:srgbClr val="CFE3DC"/>
                </a:solidFill>
                <a:latin typeface="Calibri"/>
              </a:rPr>
              <a:t>-</a:t>
            </a:r>
            <a:r>
              <a:rPr sz="3850" b="0" i="1" dirty="0">
                <a:solidFill>
                  <a:srgbClr val="CFE3DC"/>
                </a:solidFill>
                <a:latin typeface="Calibri"/>
              </a:rPr>
              <a:t> from LLM Prompting to a </a:t>
            </a:r>
            <a:r>
              <a:rPr sz="3850" b="0" i="1" dirty="0" err="1">
                <a:solidFill>
                  <a:srgbClr val="CFE3DC"/>
                </a:solidFill>
                <a:latin typeface="Calibri"/>
              </a:rPr>
              <a:t>FineTuned</a:t>
            </a:r>
            <a:r>
              <a:rPr sz="3850" b="0" i="1" dirty="0">
                <a:solidFill>
                  <a:srgbClr val="CFE3DC"/>
                </a:solidFill>
                <a:latin typeface="Calibri"/>
              </a:rPr>
              <a:t> Transformer Encoder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3816000"/>
            <a:ext cx="28980000" cy="5270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25" b="1" i="0" dirty="0">
                <a:solidFill>
                  <a:srgbClr val="FFFFFF"/>
                </a:solidFill>
                <a:latin typeface="Calibri"/>
              </a:rPr>
              <a:t>Aya Grabarsky   ·   Sofia Torgovezky   ·   </a:t>
            </a:r>
            <a:r>
              <a:rPr sz="3325" b="1" i="0" dirty="0" err="1">
                <a:solidFill>
                  <a:srgbClr val="FFFFFF"/>
                </a:solidFill>
                <a:latin typeface="Calibri"/>
              </a:rPr>
              <a:t>AnatLinor</a:t>
            </a:r>
            <a:r>
              <a:rPr sz="3325" b="1" i="0" dirty="0">
                <a:solidFill>
                  <a:srgbClr val="FFFFFF"/>
                </a:solidFill>
                <a:latin typeface="Calibri"/>
              </a:rPr>
              <a:t> Lorman   ·   Yehoraz BenYehuda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4608000"/>
            <a:ext cx="28980000" cy="4160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25" b="0" i="0" dirty="0">
                <a:solidFill>
                  <a:srgbClr val="CFE3DC"/>
                </a:solidFill>
                <a:latin typeface="Calibri"/>
              </a:rPr>
              <a:t>Supervised by Lotem </a:t>
            </a:r>
            <a:r>
              <a:rPr sz="2625" b="0" i="0" dirty="0" err="1">
                <a:solidFill>
                  <a:srgbClr val="CFE3DC"/>
                </a:solidFill>
                <a:latin typeface="Calibri"/>
              </a:rPr>
              <a:t>PeledCohen</a:t>
            </a:r>
            <a:r>
              <a:rPr sz="2625" b="0" i="0" dirty="0">
                <a:solidFill>
                  <a:srgbClr val="CFE3DC"/>
                </a:solidFill>
                <a:latin typeface="Calibri"/>
              </a:rPr>
              <a:t>   |   Technion – Israel Institute of Technology, </a:t>
            </a:r>
            <a:r>
              <a:rPr sz="2625" b="0" i="0" dirty="0" err="1">
                <a:solidFill>
                  <a:srgbClr val="CFE3DC"/>
                </a:solidFill>
                <a:latin typeface="Calibri"/>
              </a:rPr>
              <a:t>FinalYear</a:t>
            </a:r>
            <a:r>
              <a:rPr sz="2625" b="0" i="0" dirty="0">
                <a:solidFill>
                  <a:srgbClr val="CFE3DC"/>
                </a:solidFill>
                <a:latin typeface="Calibri"/>
              </a:rPr>
              <a:t> Project in Design   |  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6624000"/>
            <a:ext cx="28980000" cy="208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8000" y="6624000"/>
            <a:ext cx="216000" cy="2088000"/>
          </a:xfrm>
          <a:prstGeom prst="rect">
            <a:avLst/>
          </a:prstGeom>
          <a:solidFill>
            <a:srgbClr val="4E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96000" y="6840000"/>
            <a:ext cx="324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75" b="1" i="0">
                <a:solidFill>
                  <a:srgbClr val="0B2A4A"/>
                </a:solidFill>
                <a:latin typeface="Calibri"/>
              </a:rPr>
              <a:t>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6000" y="7272000"/>
            <a:ext cx="27684000" cy="149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12" b="0" i="0" dirty="0">
                <a:solidFill>
                  <a:srgbClr val="1A1A1A"/>
                </a:solidFill>
                <a:latin typeface="Calibri"/>
              </a:rPr>
              <a:t>Sarcasm inverts literal meaning, causing sentiment and moderation systems to fail silently and confidently. This project first builds and statistically validates an </a:t>
            </a:r>
            <a:r>
              <a:rPr sz="2712" b="0" i="0" dirty="0" err="1">
                <a:solidFill>
                  <a:srgbClr val="1A1A1A"/>
                </a:solidFill>
                <a:latin typeface="Calibri"/>
              </a:rPr>
              <a:t>LLMjudge</a:t>
            </a:r>
            <a:r>
              <a:rPr sz="2712" b="0" i="0" dirty="0">
                <a:solidFill>
                  <a:srgbClr val="1A1A1A"/>
                </a:solidFill>
                <a:latin typeface="Calibri"/>
              </a:rPr>
              <a:t> benchmark for rewriting sarcastic text as sincere text (Part I) </a:t>
            </a:r>
            <a:r>
              <a:rPr lang="en-IL" sz="2712" b="0" i="0" dirty="0">
                <a:solidFill>
                  <a:srgbClr val="1A1A1A"/>
                </a:solidFill>
                <a:latin typeface="Calibri"/>
              </a:rPr>
              <a:t>-</a:t>
            </a:r>
            <a:r>
              <a:rPr sz="2712" b="0" i="0" dirty="0">
                <a:solidFill>
                  <a:srgbClr val="1A1A1A"/>
                </a:solidFill>
                <a:latin typeface="Calibri"/>
              </a:rPr>
              <a:t> then, motivated by that benchmark's own error analysis showing models repeatedly fail to even recognize sarcasm, runs a controlled </a:t>
            </a:r>
            <a:r>
              <a:rPr sz="2712" b="0" i="0" dirty="0" err="1">
                <a:solidFill>
                  <a:srgbClr val="1A1A1A"/>
                </a:solidFill>
                <a:latin typeface="Calibri"/>
              </a:rPr>
              <a:t>sixmethod</a:t>
            </a:r>
            <a:r>
              <a:rPr sz="2712" b="0" i="0" dirty="0">
                <a:solidFill>
                  <a:srgbClr val="1A1A1A"/>
                </a:solidFill>
                <a:latin typeface="Calibri"/>
              </a:rPr>
              <a:t> comparison for sarcasm detection itself (Part II). Both phases converge on one conclusion: a model adapted to labeled, </a:t>
            </a:r>
            <a:r>
              <a:rPr sz="2712" b="0" i="0" dirty="0" err="1">
                <a:solidFill>
                  <a:srgbClr val="1A1A1A"/>
                </a:solidFill>
                <a:latin typeface="Calibri"/>
              </a:rPr>
              <a:t>indomain</a:t>
            </a:r>
            <a:r>
              <a:rPr sz="2712" b="0" i="0" dirty="0">
                <a:solidFill>
                  <a:srgbClr val="1A1A1A"/>
                </a:solidFill>
                <a:latin typeface="Calibri"/>
              </a:rPr>
              <a:t> data outperforms a </a:t>
            </a:r>
            <a:r>
              <a:rPr sz="2712" b="0" i="0" dirty="0" err="1">
                <a:solidFill>
                  <a:srgbClr val="1A1A1A"/>
                </a:solidFill>
                <a:latin typeface="Calibri"/>
              </a:rPr>
              <a:t>generalpurpose</a:t>
            </a:r>
            <a:r>
              <a:rPr sz="2712" b="0" i="0" dirty="0">
                <a:solidFill>
                  <a:srgbClr val="1A1A1A"/>
                </a:solidFill>
                <a:latin typeface="Calibri"/>
              </a:rPr>
              <a:t> LLM used zero/</a:t>
            </a:r>
            <a:r>
              <a:rPr sz="2712" b="0" i="0" dirty="0" err="1">
                <a:solidFill>
                  <a:srgbClr val="1A1A1A"/>
                </a:solidFill>
                <a:latin typeface="Calibri"/>
              </a:rPr>
              <a:t>fewshot</a:t>
            </a:r>
            <a:r>
              <a:rPr sz="2712" b="0" i="0" dirty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9216000"/>
            <a:ext cx="30276000" cy="792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000" y="9324000"/>
            <a:ext cx="28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500" b="1" i="0" dirty="0">
                <a:solidFill>
                  <a:srgbClr val="FFFFFF"/>
                </a:solidFill>
                <a:latin typeface="Calibri"/>
              </a:rPr>
              <a:t>PART I </a:t>
            </a:r>
            <a:r>
              <a:rPr lang="en-IL" sz="35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500" b="1" i="0" dirty="0">
                <a:solidFill>
                  <a:srgbClr val="FFFFFF"/>
                </a:solidFill>
                <a:latin typeface="Calibri"/>
              </a:rPr>
              <a:t> SARCASM INTERPRETATION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10368000"/>
            <a:ext cx="9276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75" b="1" i="0">
                <a:solidFill>
                  <a:srgbClr val="0B2A4A"/>
                </a:solidFill>
                <a:latin typeface="Calibri"/>
              </a:rPr>
              <a:t>Problem &amp;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11016000"/>
            <a:ext cx="9276000" cy="5196921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Task: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given a sarcastic tweet, generate a sincere rewrite preserving intended meaning </a:t>
            </a:r>
            <a:r>
              <a:rPr lang="en-IL" sz="2362" dirty="0">
                <a:solidFill>
                  <a:srgbClr val="1A1A1A"/>
                </a:solidFill>
                <a:latin typeface="Calibri"/>
              </a:rPr>
              <a:t>-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and test whether an LLM judge can validly replace human annotators.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Dataset: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the SIGN paper's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sarcastictweet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test set (Peled &amp; Reichart, 2017), deduplicated.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Models: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5 candidates surveyed → 3 used </a:t>
            </a:r>
            <a:r>
              <a:rPr lang="en-IL" sz="2362" dirty="0">
                <a:solidFill>
                  <a:srgbClr val="1A1A1A"/>
                </a:solidFill>
                <a:latin typeface="Calibri"/>
              </a:rPr>
              <a:t>-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Gemini 2.5 Flash Lite, Nvidia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Nemotron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Nano 9B v2, Liquid LFM 2.51.2B.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Prompts: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4 variants (plain → “translate the true meaning” →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formatconstrained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→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fewshot</a:t>
            </a:r>
            <a:r>
              <a:rPr sz="2362" dirty="0">
                <a:solidFill>
                  <a:srgbClr val="1A1A1A"/>
                </a:solidFill>
                <a:latin typeface="Calibri"/>
              </a:rPr>
              <a:t>) × 3 models.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Evaluation: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automatic metrics (BLEU/ROUGE/PINC), an independent LLM judge (GPTOSS 20B, 1–3 scale), and 3 human annotators on a 70tweet sample.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16644921"/>
            <a:ext cx="9276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75" b="1" i="0">
                <a:solidFill>
                  <a:srgbClr val="0B2A4A"/>
                </a:solidFill>
                <a:latin typeface="Calibri"/>
              </a:rPr>
              <a:t>Statistical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17292921"/>
            <a:ext cx="9276000" cy="342541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 err="1">
                <a:solidFill>
                  <a:srgbClr val="1A1A1A"/>
                </a:solidFill>
                <a:latin typeface="Calibri"/>
              </a:rPr>
              <a:t>AltTest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 (Calderon et al., 2025):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leaveoneannotatorout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substitution test </a:t>
            </a:r>
            <a:r>
              <a:rPr lang="en-IL" sz="2362" dirty="0">
                <a:solidFill>
                  <a:srgbClr val="1A1A1A"/>
                </a:solidFill>
                <a:latin typeface="Calibri"/>
              </a:rPr>
              <a:t>-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Winning Rate 0.67, Advantage Probability 0.77 at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ε</a:t>
            </a:r>
            <a:r>
              <a:rPr sz="2362" dirty="0">
                <a:solidFill>
                  <a:srgbClr val="1A1A1A"/>
                </a:solidFill>
                <a:latin typeface="Calibri"/>
              </a:rPr>
              <a:t>=0.2 → PASSED.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Fleiss’ Kappa = 0.282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(“fair agreement”) among the 3 human annotators </a:t>
            </a:r>
            <a:r>
              <a:rPr lang="en-IL" sz="2362" dirty="0">
                <a:solidFill>
                  <a:srgbClr val="1A1A1A"/>
                </a:solidFill>
                <a:latin typeface="Calibri"/>
              </a:rPr>
              <a:t>-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sarcasmtranslation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quality is subjective even for humans.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Kruskal–Wallis: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both prompt choice (p=9.4×10⁻³⁴) and model choice (p=5.1×10⁻⁷²) have a statistically decisive effect on quality.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00" y="10368000"/>
            <a:ext cx="9276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75" b="1" i="0">
                <a:solidFill>
                  <a:srgbClr val="0B2A4A"/>
                </a:solidFill>
                <a:latin typeface="Calibri"/>
              </a:rPr>
              <a:t>Evidence</a:t>
            </a:r>
          </a:p>
        </p:txBody>
      </p:sp>
      <p:pic>
        <p:nvPicPr>
          <p:cNvPr id="19" name="Picture 18" descr="1_model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00" y="11016000"/>
            <a:ext cx="4530000" cy="2911012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10500000" y="14035012"/>
            <a:ext cx="4530000" cy="2954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37" b="0" i="1" dirty="0">
                <a:solidFill>
                  <a:srgbClr val="555555"/>
                </a:solidFill>
                <a:latin typeface="Calibri"/>
              </a:rPr>
              <a:t>Fig. 1 </a:t>
            </a:r>
            <a:r>
              <a:rPr lang="en-IL" sz="1837" b="0" i="1" dirty="0">
                <a:solidFill>
                  <a:srgbClr val="555555"/>
                </a:solidFill>
                <a:latin typeface="Calibri"/>
              </a:rPr>
              <a:t>-</a:t>
            </a:r>
            <a:r>
              <a:rPr sz="1837" b="0" i="1" dirty="0">
                <a:solidFill>
                  <a:srgbClr val="555555"/>
                </a:solidFill>
                <a:latin typeface="Calibri"/>
              </a:rPr>
              <a:t> Human vs. </a:t>
            </a:r>
            <a:r>
              <a:rPr sz="1837" b="0" i="1" dirty="0" err="1">
                <a:solidFill>
                  <a:srgbClr val="555555"/>
                </a:solidFill>
                <a:latin typeface="Calibri"/>
              </a:rPr>
              <a:t>LLMjudge</a:t>
            </a:r>
            <a:r>
              <a:rPr sz="1837" b="0" i="1" dirty="0">
                <a:solidFill>
                  <a:srgbClr val="555555"/>
                </a:solidFill>
                <a:latin typeface="Calibri"/>
              </a:rPr>
              <a:t> score, by model</a:t>
            </a:r>
          </a:p>
        </p:txBody>
      </p:sp>
      <p:pic>
        <p:nvPicPr>
          <p:cNvPr id="21" name="Picture 20" descr="2_prompt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6000" y="11016000"/>
            <a:ext cx="4530000" cy="2911012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15246000" y="14035012"/>
            <a:ext cx="4530000" cy="2954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37" b="0" i="1" dirty="0">
                <a:solidFill>
                  <a:srgbClr val="555555"/>
                </a:solidFill>
                <a:latin typeface="Calibri"/>
              </a:rPr>
              <a:t>Fig. 2 </a:t>
            </a:r>
            <a:r>
              <a:rPr lang="en-IL" sz="1837" b="0" i="1" dirty="0">
                <a:solidFill>
                  <a:srgbClr val="555555"/>
                </a:solidFill>
                <a:latin typeface="Calibri"/>
              </a:rPr>
              <a:t>-</a:t>
            </a:r>
            <a:r>
              <a:rPr sz="1837" b="0" i="1" dirty="0">
                <a:solidFill>
                  <a:srgbClr val="555555"/>
                </a:solidFill>
                <a:latin typeface="Calibri"/>
              </a:rPr>
              <a:t> Human vs. </a:t>
            </a:r>
            <a:r>
              <a:rPr sz="1837" b="0" i="1" dirty="0" err="1">
                <a:solidFill>
                  <a:srgbClr val="555555"/>
                </a:solidFill>
                <a:latin typeface="Calibri"/>
              </a:rPr>
              <a:t>LLMjudge</a:t>
            </a:r>
            <a:r>
              <a:rPr sz="1837" b="0" i="1" dirty="0">
                <a:solidFill>
                  <a:srgbClr val="555555"/>
                </a:solidFill>
                <a:latin typeface="Calibri"/>
              </a:rPr>
              <a:t> score, by prompt</a:t>
            </a:r>
          </a:p>
        </p:txBody>
      </p:sp>
      <p:pic>
        <p:nvPicPr>
          <p:cNvPr id="23" name="Picture 22" descr="4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00" y="15115012"/>
            <a:ext cx="4530000" cy="3410063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10500000" y="18633075"/>
            <a:ext cx="4530000" cy="606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37" b="0" i="1" dirty="0">
                <a:solidFill>
                  <a:srgbClr val="555555"/>
                </a:solidFill>
                <a:latin typeface="Calibri"/>
              </a:rPr>
              <a:t>Fig. 3 </a:t>
            </a:r>
            <a:r>
              <a:rPr lang="en-IL" sz="1837" b="0" i="1" dirty="0">
                <a:solidFill>
                  <a:srgbClr val="555555"/>
                </a:solidFill>
                <a:latin typeface="Calibri"/>
              </a:rPr>
              <a:t>-</a:t>
            </a:r>
            <a:r>
              <a:rPr sz="1837" b="0" i="1" dirty="0">
                <a:solidFill>
                  <a:srgbClr val="555555"/>
                </a:solidFill>
                <a:latin typeface="Calibri"/>
              </a:rPr>
              <a:t> Confusion matrix: human vs. </a:t>
            </a:r>
            <a:r>
              <a:rPr sz="1837" b="0" i="1" dirty="0" err="1">
                <a:solidFill>
                  <a:srgbClr val="555555"/>
                </a:solidFill>
                <a:latin typeface="Calibri"/>
              </a:rPr>
              <a:t>LLMjudge</a:t>
            </a:r>
            <a:r>
              <a:rPr sz="1837" b="0" i="1" dirty="0">
                <a:solidFill>
                  <a:srgbClr val="555555"/>
                </a:solidFill>
                <a:latin typeface="Calibri"/>
              </a:rPr>
              <a:t> score</a:t>
            </a:r>
          </a:p>
        </p:txBody>
      </p:sp>
      <p:pic>
        <p:nvPicPr>
          <p:cNvPr id="25" name="Picture 24" descr="linguistic_2_overlap_box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6000" y="15115012"/>
            <a:ext cx="4530000" cy="2697475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15246000" y="17920487"/>
            <a:ext cx="4530000" cy="606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37" b="0" i="1" dirty="0">
                <a:solidFill>
                  <a:srgbClr val="555555"/>
                </a:solidFill>
                <a:latin typeface="Calibri"/>
              </a:rPr>
              <a:t>Fig. 4 </a:t>
            </a:r>
            <a:r>
              <a:rPr lang="en-IL" sz="1837" b="0" i="1" dirty="0">
                <a:solidFill>
                  <a:srgbClr val="555555"/>
                </a:solidFill>
                <a:latin typeface="Calibri"/>
              </a:rPr>
              <a:t>-</a:t>
            </a:r>
            <a:r>
              <a:rPr sz="1837" b="0" i="1" dirty="0">
                <a:solidFill>
                  <a:srgbClr val="555555"/>
                </a:solidFill>
                <a:latin typeface="Calibri"/>
              </a:rPr>
              <a:t> Word overlap with source, by prompt &amp;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52000" y="10368000"/>
            <a:ext cx="9276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75" b="1" i="0">
                <a:solidFill>
                  <a:srgbClr val="0B2A4A"/>
                </a:solidFill>
                <a:latin typeface="Calibri"/>
              </a:rPr>
              <a:t>Key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52000" y="11016000"/>
            <a:ext cx="9276000" cy="469523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Best model: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Nvidia led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humanrated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quality (~2.25/3), Gemini a close second, Liquid a distant last (~1.3).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Rewriting strategies: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Gemini = “explanatory expansion”; Nvidia = “stable precision”; Liquid = “unstable reduction” (~85% PINC,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nearzero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source overlap).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Judge vs. human agreement: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67.1% (Liquid) down to 31.4% (Nvidia) </a:t>
            </a:r>
            <a:r>
              <a:rPr lang="en-IL" sz="2362" dirty="0">
                <a:solidFill>
                  <a:srgbClr val="1A1A1A"/>
                </a:solidFill>
                <a:latin typeface="Calibri"/>
              </a:rPr>
              <a:t>-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easy to agree on outright failure, hard to agree on nuanced quality.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Judge biases found: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semantic rigidity (penalizes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creativebutcorrect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paraphrases) and fluency bias (rewards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fluentbutwrong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text).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352000" y="16143238"/>
            <a:ext cx="9276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75" b="1" i="0">
                <a:solidFill>
                  <a:srgbClr val="0B2A4A"/>
                </a:solidFill>
                <a:latin typeface="Calibri"/>
              </a:rPr>
              <a:t>Conclusion → Pivot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52000" y="16791238"/>
            <a:ext cx="9276000" cy="17429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362" b="0" i="0" dirty="0">
                <a:solidFill>
                  <a:srgbClr val="1A1A1A"/>
                </a:solidFill>
                <a:latin typeface="Calibri"/>
              </a:rPr>
              <a:t>Across the case studies and error analysis, the recurring failure was models not recognizing sarcasm in the first place </a:t>
            </a:r>
            <a:r>
              <a:rPr lang="en-IL" sz="2362" b="0" i="0" dirty="0">
                <a:solidFill>
                  <a:srgbClr val="1A1A1A"/>
                </a:solidFill>
                <a:latin typeface="Calibri"/>
              </a:rPr>
              <a:t>-</a:t>
            </a:r>
            <a:r>
              <a:rPr sz="2362" b="0" i="0" dirty="0">
                <a:solidFill>
                  <a:srgbClr val="1A1A1A"/>
                </a:solidFill>
                <a:latin typeface="Calibri"/>
              </a:rPr>
              <a:t> no </a:t>
            </a:r>
            <a:r>
              <a:rPr sz="2362" b="0" i="0" dirty="0" err="1">
                <a:solidFill>
                  <a:srgbClr val="1A1A1A"/>
                </a:solidFill>
                <a:latin typeface="Calibri"/>
              </a:rPr>
              <a:t>rewritingprompt</a:t>
            </a:r>
            <a:r>
              <a:rPr sz="2362" b="0" i="0" dirty="0">
                <a:solidFill>
                  <a:srgbClr val="1A1A1A"/>
                </a:solidFill>
                <a:latin typeface="Calibri"/>
              </a:rPr>
              <a:t> refinement fixes a misread input. This motivated Part II: treat detection as its own dedicated, rigorously compared problem.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21654331"/>
            <a:ext cx="30276000" cy="792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8000" y="21762331"/>
            <a:ext cx="2898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500" b="1" i="0" dirty="0">
                <a:solidFill>
                  <a:srgbClr val="FFFFFF"/>
                </a:solidFill>
                <a:latin typeface="Calibri"/>
              </a:rPr>
              <a:t>PART II </a:t>
            </a:r>
            <a:r>
              <a:rPr lang="en-IL" sz="35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500" b="1" i="0" dirty="0">
                <a:solidFill>
                  <a:srgbClr val="FFFFFF"/>
                </a:solidFill>
                <a:latin typeface="Calibri"/>
              </a:rPr>
              <a:t> SARCASM DETECTION: A SIXMETHOD COMPARISON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8000" y="22734331"/>
          <a:ext cx="28979998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3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65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1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571">
                <a:tc>
                  <a:txBody>
                    <a:bodyPr/>
                    <a:lstStyle/>
                    <a:p>
                      <a:pPr algn="l"/>
                      <a:r>
                        <a:rPr sz="2537" b="1" dirty="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72000" marR="72000" marT="43200" marB="432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37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72000" marR="72000" marT="43200" marB="432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37" b="1">
                          <a:solidFill>
                            <a:srgbClr val="FFFFFF"/>
                          </a:solidFill>
                        </a:rPr>
                        <a:t>TEST Macro F1</a:t>
                      </a:r>
                    </a:p>
                  </a:txBody>
                  <a:tcPr marL="72000" marR="72000" marT="43200" marB="43200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571">
                <a:tc>
                  <a:txBody>
                    <a:bodyPr/>
                    <a:lstStyle/>
                    <a:p>
                      <a:pPr algn="l"/>
                      <a:r>
                        <a:rPr sz="2537" b="0">
                          <a:solidFill>
                            <a:srgbClr val="1A1A1A"/>
                          </a:solidFill>
                        </a:rPr>
                        <a:t>M1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37" b="0" dirty="0">
                          <a:solidFill>
                            <a:srgbClr val="1A1A1A"/>
                          </a:solidFill>
                        </a:rPr>
                        <a:t>TFIDF + Logistic Regression (classical baseline)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37" b="0">
                          <a:solidFill>
                            <a:srgbClr val="1A1A1A"/>
                          </a:solidFill>
                        </a:rPr>
                        <a:t>0.7403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571">
                <a:tc>
                  <a:txBody>
                    <a:bodyPr/>
                    <a:lstStyle/>
                    <a:p>
                      <a:pPr algn="l"/>
                      <a:r>
                        <a:rPr sz="2537" b="0">
                          <a:solidFill>
                            <a:srgbClr val="1A1A1A"/>
                          </a:solidFill>
                        </a:rPr>
                        <a:t>M2</a:t>
                      </a:r>
                    </a:p>
                  </a:txBody>
                  <a:tcPr marL="72000" marR="72000" marT="36000" marB="3600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37" b="0" dirty="0">
                          <a:solidFill>
                            <a:srgbClr val="1A1A1A"/>
                          </a:solidFill>
                        </a:rPr>
                        <a:t>Qwen34B </a:t>
                      </a:r>
                      <a:r>
                        <a:rPr sz="2537" b="0" dirty="0" err="1">
                          <a:solidFill>
                            <a:srgbClr val="1A1A1A"/>
                          </a:solidFill>
                        </a:rPr>
                        <a:t>zeroshot</a:t>
                      </a:r>
                      <a:r>
                        <a:rPr sz="2537" b="0" dirty="0">
                          <a:solidFill>
                            <a:srgbClr val="1A1A1A"/>
                          </a:solidFill>
                        </a:rPr>
                        <a:t> prompting</a:t>
                      </a:r>
                    </a:p>
                  </a:txBody>
                  <a:tcPr marL="72000" marR="72000" marT="36000" marB="3600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37" b="0">
                          <a:solidFill>
                            <a:srgbClr val="1A1A1A"/>
                          </a:solidFill>
                        </a:rPr>
                        <a:t>0.6005</a:t>
                      </a:r>
                    </a:p>
                  </a:txBody>
                  <a:tcPr marL="72000" marR="72000" marT="36000" marB="36000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571">
                <a:tc>
                  <a:txBody>
                    <a:bodyPr/>
                    <a:lstStyle/>
                    <a:p>
                      <a:pPr algn="l"/>
                      <a:r>
                        <a:rPr sz="2537" b="0">
                          <a:solidFill>
                            <a:srgbClr val="1A1A1A"/>
                          </a:solidFill>
                        </a:rPr>
                        <a:t>M3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37" b="0" dirty="0">
                          <a:solidFill>
                            <a:srgbClr val="1A1A1A"/>
                          </a:solidFill>
                        </a:rPr>
                        <a:t>Qwen34B </a:t>
                      </a:r>
                      <a:r>
                        <a:rPr sz="2537" b="0" dirty="0" err="1">
                          <a:solidFill>
                            <a:srgbClr val="1A1A1A"/>
                          </a:solidFill>
                        </a:rPr>
                        <a:t>fewshot</a:t>
                      </a:r>
                      <a:r>
                        <a:rPr sz="2537" b="0" dirty="0">
                          <a:solidFill>
                            <a:srgbClr val="1A1A1A"/>
                          </a:solidFill>
                        </a:rPr>
                        <a:t> prompting (8 random demos)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37" b="0">
                          <a:solidFill>
                            <a:srgbClr val="1A1A1A"/>
                          </a:solidFill>
                        </a:rPr>
                        <a:t>0.5947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571">
                <a:tc>
                  <a:txBody>
                    <a:bodyPr/>
                    <a:lstStyle/>
                    <a:p>
                      <a:pPr algn="l"/>
                      <a:r>
                        <a:rPr sz="2537" b="0">
                          <a:solidFill>
                            <a:srgbClr val="1A1A1A"/>
                          </a:solidFill>
                        </a:rPr>
                        <a:t>M4</a:t>
                      </a:r>
                    </a:p>
                  </a:txBody>
                  <a:tcPr marL="72000" marR="72000" marT="36000" marB="3600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37" b="0" dirty="0">
                          <a:solidFill>
                            <a:srgbClr val="1A1A1A"/>
                          </a:solidFill>
                        </a:rPr>
                        <a:t>Qwen34B structured </a:t>
                      </a:r>
                      <a:r>
                        <a:rPr sz="2537" b="0" dirty="0" err="1">
                          <a:solidFill>
                            <a:srgbClr val="1A1A1A"/>
                          </a:solidFill>
                        </a:rPr>
                        <a:t>stepbystep</a:t>
                      </a:r>
                      <a:r>
                        <a:rPr sz="2537" b="0" dirty="0">
                          <a:solidFill>
                            <a:srgbClr val="1A1A1A"/>
                          </a:solidFill>
                        </a:rPr>
                        <a:t> reasoning</a:t>
                      </a:r>
                    </a:p>
                  </a:txBody>
                  <a:tcPr marL="72000" marR="72000" marT="36000" marB="3600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37" b="0">
                          <a:solidFill>
                            <a:srgbClr val="1A1A1A"/>
                          </a:solidFill>
                        </a:rPr>
                        <a:t>0.5758</a:t>
                      </a:r>
                    </a:p>
                  </a:txBody>
                  <a:tcPr marL="72000" marR="72000" marT="36000" marB="36000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571">
                <a:tc>
                  <a:txBody>
                    <a:bodyPr/>
                    <a:lstStyle/>
                    <a:p>
                      <a:pPr algn="l"/>
                      <a:r>
                        <a:rPr sz="2537" b="0">
                          <a:solidFill>
                            <a:srgbClr val="1A1A1A"/>
                          </a:solidFill>
                        </a:rPr>
                        <a:t>M5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37" b="0" dirty="0" err="1">
                          <a:solidFill>
                            <a:srgbClr val="1A1A1A"/>
                          </a:solidFill>
                        </a:rPr>
                        <a:t>DSPy</a:t>
                      </a:r>
                      <a:r>
                        <a:rPr sz="2537" b="0" dirty="0">
                          <a:solidFill>
                            <a:srgbClr val="1A1A1A"/>
                          </a:solidFill>
                        </a:rPr>
                        <a:t> MIPROv2 </a:t>
                      </a:r>
                      <a:r>
                        <a:rPr lang="en-IL" sz="2537" b="0" dirty="0">
                          <a:solidFill>
                            <a:srgbClr val="1A1A1A"/>
                          </a:solidFill>
                        </a:rPr>
                        <a:t>-</a:t>
                      </a:r>
                      <a:r>
                        <a:rPr sz="2537" b="0" dirty="0">
                          <a:solidFill>
                            <a:srgbClr val="1A1A1A"/>
                          </a:solidFill>
                        </a:rPr>
                        <a:t> optimized prompt + demos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37" b="0">
                          <a:solidFill>
                            <a:srgbClr val="1A1A1A"/>
                          </a:solidFill>
                        </a:rPr>
                        <a:t>0.6681</a:t>
                      </a:r>
                    </a:p>
                  </a:txBody>
                  <a:tcPr marL="72000" marR="72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574">
                <a:tc>
                  <a:txBody>
                    <a:bodyPr/>
                    <a:lstStyle/>
                    <a:p>
                      <a:pPr algn="l"/>
                      <a:r>
                        <a:rPr sz="2537" b="1">
                          <a:solidFill>
                            <a:srgbClr val="0B2A4A"/>
                          </a:solidFill>
                        </a:rPr>
                        <a:t>M6</a:t>
                      </a:r>
                    </a:p>
                  </a:txBody>
                  <a:tcPr marL="72000" marR="72000" marT="36000" marB="36000" anchor="ctr">
                    <a:solidFill>
                      <a:srgbClr val="EA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37" b="1" dirty="0">
                          <a:solidFill>
                            <a:srgbClr val="0B2A4A"/>
                          </a:solidFill>
                        </a:rPr>
                        <a:t>Finetuned </a:t>
                      </a:r>
                      <a:r>
                        <a:rPr sz="2537" b="1" dirty="0" err="1">
                          <a:solidFill>
                            <a:srgbClr val="0B2A4A"/>
                          </a:solidFill>
                        </a:rPr>
                        <a:t>microsoft</a:t>
                      </a:r>
                      <a:r>
                        <a:rPr sz="2537" b="1" dirty="0">
                          <a:solidFill>
                            <a:srgbClr val="0B2A4A"/>
                          </a:solidFill>
                        </a:rPr>
                        <a:t>/debertav3base</a:t>
                      </a:r>
                    </a:p>
                  </a:txBody>
                  <a:tcPr marL="72000" marR="72000" marT="36000" marB="36000" anchor="ctr">
                    <a:solidFill>
                      <a:srgbClr val="EA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37" b="1">
                          <a:solidFill>
                            <a:srgbClr val="0B2A4A"/>
                          </a:solidFill>
                        </a:rPr>
                        <a:t>0.8209</a:t>
                      </a:r>
                    </a:p>
                  </a:txBody>
                  <a:tcPr marL="72000" marR="72000" marT="36000" marB="36000" anchor="ctr">
                    <a:solidFill>
                      <a:srgbClr val="EA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8000" y="26874331"/>
            <a:ext cx="9276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75" b="1" i="0">
                <a:solidFill>
                  <a:srgbClr val="0B2A4A"/>
                </a:solidFill>
                <a:latin typeface="Calibri"/>
              </a:rPr>
              <a:t>Dataset &amp; Setup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000" y="27522331"/>
            <a:ext cx="9276000" cy="596506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Dataset: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Sarcasm Corpus V2 (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Oraby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et al., 2016) </a:t>
            </a:r>
            <a:r>
              <a:rPr lang="en-IL" sz="2362" dirty="0">
                <a:solidFill>
                  <a:srgbClr val="1A1A1A"/>
                </a:solidFill>
                <a:latin typeface="Calibri"/>
              </a:rPr>
              <a:t>-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9,386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humanannotated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forum posts, ~50/50 balanced, 3 overlapping categories (GEN/HYP/RQ).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Split: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one canonical 70/15/15 TRAIN/DEV/TEST split (seed 42) </a:t>
            </a:r>
            <a:r>
              <a:rPr lang="en-IL" sz="2362" dirty="0">
                <a:solidFill>
                  <a:srgbClr val="1A1A1A"/>
                </a:solidFill>
                <a:latin typeface="Calibri"/>
              </a:rPr>
              <a:t>-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grouped by duplicate text (the only leakage vector) + stratified by label.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Sealing policy: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TEST evaluated exactly once per method, only after every configuration was fully frozen on DEV.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Shared evaluator: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one implementation of Accuracy /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perclass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PRF1 / Macro F1 / confusion matrix used identically by all six methods.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Base LLM fixed: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M2–M5 all run the same local Qwen34BInstruct2507, isolating prompting technique from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basemodel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capability.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00000" y="26874331"/>
            <a:ext cx="9276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75" b="1" i="0">
                <a:solidFill>
                  <a:srgbClr val="0B2A4A"/>
                </a:solidFill>
                <a:latin typeface="Calibri"/>
              </a:rPr>
              <a:t>Evidence</a:t>
            </a:r>
          </a:p>
        </p:txBody>
      </p:sp>
      <p:pic>
        <p:nvPicPr>
          <p:cNvPr id="37" name="Picture 36" descr="macro_f1_compari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0000" y="27522331"/>
            <a:ext cx="4530000" cy="3002683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38" name="TextBox 37"/>
          <p:cNvSpPr txBox="1"/>
          <p:nvPr/>
        </p:nvSpPr>
        <p:spPr>
          <a:xfrm>
            <a:off x="10500000" y="30633014"/>
            <a:ext cx="4530000" cy="606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37" b="0" i="1" dirty="0">
                <a:solidFill>
                  <a:srgbClr val="555555"/>
                </a:solidFill>
                <a:latin typeface="Calibri"/>
              </a:rPr>
              <a:t>Fig. 5 </a:t>
            </a:r>
            <a:r>
              <a:rPr lang="en-IL" sz="1837" b="0" i="1" dirty="0">
                <a:solidFill>
                  <a:srgbClr val="555555"/>
                </a:solidFill>
                <a:latin typeface="Calibri"/>
              </a:rPr>
              <a:t>-</a:t>
            </a:r>
            <a:r>
              <a:rPr sz="1837" b="0" i="1" dirty="0">
                <a:solidFill>
                  <a:srgbClr val="555555"/>
                </a:solidFill>
                <a:latin typeface="Calibri"/>
              </a:rPr>
              <a:t> Macro F1 by method, DEV vs. sealed TEST</a:t>
            </a:r>
          </a:p>
        </p:txBody>
      </p:sp>
      <p:pic>
        <p:nvPicPr>
          <p:cNvPr id="39" name="Picture 38" descr="per_class_f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6000" y="27522331"/>
            <a:ext cx="4530000" cy="3002683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15246000" y="30633014"/>
            <a:ext cx="4530000" cy="606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37" b="0" i="1" dirty="0">
                <a:solidFill>
                  <a:srgbClr val="555555"/>
                </a:solidFill>
                <a:latin typeface="Calibri"/>
              </a:rPr>
              <a:t>Fig. 6 </a:t>
            </a:r>
            <a:r>
              <a:rPr lang="en-IL" sz="1837" b="0" i="1" dirty="0">
                <a:solidFill>
                  <a:srgbClr val="555555"/>
                </a:solidFill>
                <a:latin typeface="Calibri"/>
              </a:rPr>
              <a:t>-</a:t>
            </a:r>
            <a:r>
              <a:rPr sz="1837" b="0" i="1" dirty="0">
                <a:solidFill>
                  <a:srgbClr val="555555"/>
                </a:solidFill>
                <a:latin typeface="Calibri"/>
              </a:rPr>
              <a:t> Perclass F1 </a:t>
            </a:r>
            <a:r>
              <a:rPr lang="en-IL" sz="1837" b="0" i="1" dirty="0">
                <a:solidFill>
                  <a:srgbClr val="555555"/>
                </a:solidFill>
                <a:latin typeface="Calibri"/>
              </a:rPr>
              <a:t>-</a:t>
            </a:r>
            <a:r>
              <a:rPr sz="1837" b="0" i="1" dirty="0">
                <a:solidFill>
                  <a:srgbClr val="555555"/>
                </a:solidFill>
                <a:latin typeface="Calibri"/>
              </a:rPr>
              <a:t> the </a:t>
            </a:r>
            <a:r>
              <a:rPr sz="1837" b="0" i="1" dirty="0" err="1">
                <a:solidFill>
                  <a:srgbClr val="555555"/>
                </a:solidFill>
                <a:latin typeface="Calibri"/>
              </a:rPr>
              <a:t>sarcasticoverprediction</a:t>
            </a:r>
            <a:r>
              <a:rPr sz="1837" b="0" i="1" dirty="0">
                <a:solidFill>
                  <a:srgbClr val="555555"/>
                </a:solidFill>
                <a:latin typeface="Calibri"/>
              </a:rPr>
              <a:t> bias</a:t>
            </a:r>
          </a:p>
        </p:txBody>
      </p:sp>
      <p:pic>
        <p:nvPicPr>
          <p:cNvPr id="41" name="Picture 40" descr="cross_model_agreem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0000" y="31713014"/>
            <a:ext cx="4530000" cy="3740092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42" name="TextBox 41"/>
          <p:cNvSpPr txBox="1"/>
          <p:nvPr/>
        </p:nvSpPr>
        <p:spPr>
          <a:xfrm>
            <a:off x="10500000" y="35561106"/>
            <a:ext cx="4530000" cy="606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37" b="0" i="1" dirty="0">
                <a:solidFill>
                  <a:srgbClr val="555555"/>
                </a:solidFill>
                <a:latin typeface="Calibri"/>
              </a:rPr>
              <a:t>Fig. 7 </a:t>
            </a:r>
            <a:r>
              <a:rPr lang="en-IL" sz="1837" b="0" i="1" dirty="0">
                <a:solidFill>
                  <a:srgbClr val="555555"/>
                </a:solidFill>
                <a:latin typeface="Calibri"/>
              </a:rPr>
              <a:t>-</a:t>
            </a:r>
            <a:r>
              <a:rPr sz="1837" b="0" i="1" dirty="0">
                <a:solidFill>
                  <a:srgbClr val="555555"/>
                </a:solidFill>
                <a:latin typeface="Calibri"/>
              </a:rPr>
              <a:t> Pairwise prediction agreement, all six methods</a:t>
            </a:r>
          </a:p>
        </p:txBody>
      </p:sp>
      <p:pic>
        <p:nvPicPr>
          <p:cNvPr id="43" name="Picture 42" descr="category_breakdow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6000" y="31713014"/>
            <a:ext cx="4530000" cy="208925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44" name="TextBox 43"/>
          <p:cNvSpPr txBox="1"/>
          <p:nvPr/>
        </p:nvSpPr>
        <p:spPr>
          <a:xfrm>
            <a:off x="15246000" y="33910264"/>
            <a:ext cx="4530000" cy="606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37" b="0" i="1" dirty="0">
                <a:solidFill>
                  <a:srgbClr val="555555"/>
                </a:solidFill>
                <a:latin typeface="Calibri"/>
              </a:rPr>
              <a:t>Fig. 8 </a:t>
            </a:r>
            <a:r>
              <a:rPr lang="en-IL" sz="1837" b="0" i="1" dirty="0">
                <a:solidFill>
                  <a:srgbClr val="555555"/>
                </a:solidFill>
                <a:latin typeface="Calibri"/>
              </a:rPr>
              <a:t>-</a:t>
            </a:r>
            <a:r>
              <a:rPr sz="1837" b="0" i="1" dirty="0">
                <a:solidFill>
                  <a:srgbClr val="555555"/>
                </a:solidFill>
                <a:latin typeface="Calibri"/>
              </a:rPr>
              <a:t> Accuracy by category (GEN/HYP/RQ), all six methods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352000" y="26874331"/>
            <a:ext cx="9276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75" b="1" i="0">
                <a:solidFill>
                  <a:srgbClr val="0B2A4A"/>
                </a:solidFill>
                <a:latin typeface="Calibri"/>
              </a:rPr>
              <a:t>Key Results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52000" y="27522331"/>
            <a:ext cx="9276000" cy="596506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Winner </a:t>
            </a:r>
            <a:r>
              <a:rPr lang="en-IL" sz="2362" b="1" dirty="0">
                <a:solidFill>
                  <a:srgbClr val="1A1A1A"/>
                </a:solidFill>
                <a:latin typeface="Calibri"/>
              </a:rPr>
              <a:t>-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 M6 (finetuned </a:t>
            </a:r>
            <a:r>
              <a:rPr sz="2362" b="1" dirty="0" err="1">
                <a:solidFill>
                  <a:srgbClr val="1A1A1A"/>
                </a:solidFill>
                <a:latin typeface="Calibri"/>
              </a:rPr>
              <a:t>DeBERTa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):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0.8209 Macro F1 </a:t>
            </a:r>
            <a:r>
              <a:rPr lang="en-IL" sz="2362" dirty="0">
                <a:solidFill>
                  <a:srgbClr val="1A1A1A"/>
                </a:solidFill>
                <a:latin typeface="Calibri"/>
              </a:rPr>
              <a:t>-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15–25 points over every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promptedLLM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variant of the same base model, while running far faster &amp; cheaper.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More prompting ≠ better: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plain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zeroshot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beat both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fewshot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and structured reasoning; only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DSPy's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automated MIPROv2 search improved on it.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Universal LLM bias: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every prompted method overpredicts “sarcastic” </a:t>
            </a:r>
            <a:r>
              <a:rPr lang="en-IL" sz="2362" dirty="0">
                <a:solidFill>
                  <a:srgbClr val="1A1A1A"/>
                </a:solidFill>
                <a:latin typeface="Calibri"/>
              </a:rPr>
              <a:t>-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94–97% sarcastic recall vs. only 28–44% </a:t>
            </a:r>
            <a:r>
              <a:rPr sz="2362" dirty="0" err="1">
                <a:solidFill>
                  <a:srgbClr val="1A1A1A"/>
                </a:solidFill>
                <a:latin typeface="Calibri"/>
              </a:rPr>
              <a:t>notsarcastic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recall.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Two clear families: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the 4 LLM methods agree with each other 88–95% of the time; M1+M6 (trained methods) agree with each other 81% </a:t>
            </a:r>
            <a:r>
              <a:rPr lang="en-IL" sz="2362" dirty="0">
                <a:solidFill>
                  <a:srgbClr val="1A1A1A"/>
                </a:solidFill>
                <a:latin typeface="Calibri"/>
              </a:rPr>
              <a:t>-</a:t>
            </a:r>
            <a:r>
              <a:rPr sz="2362" dirty="0">
                <a:solidFill>
                  <a:srgbClr val="1A1A1A"/>
                </a:solidFill>
                <a:latin typeface="Calibri"/>
              </a:rPr>
              <a:t> but only 62–71% with the LLM family.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362" dirty="0">
                <a:solidFill>
                  <a:srgbClr val="4EB39A"/>
                </a:solidFill>
                <a:latin typeface="Calibri"/>
              </a:rPr>
              <a:t>■  </a:t>
            </a:r>
            <a:r>
              <a:rPr sz="2362" b="1" dirty="0">
                <a:solidFill>
                  <a:srgbClr val="1A1A1A"/>
                </a:solidFill>
                <a:latin typeface="Calibri"/>
              </a:rPr>
              <a:t>Hardest cases: </a:t>
            </a:r>
            <a:r>
              <a:rPr sz="2362" dirty="0">
                <a:solidFill>
                  <a:srgbClr val="1A1A1A"/>
                </a:solidFill>
                <a:latin typeface="Calibri"/>
              </a:rPr>
              <a:t>89/1,340 TEST examples (6.6%) are misclassified by every one of the 6 methods, including the winner.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352000" y="33919396"/>
            <a:ext cx="9276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75" b="1" i="0">
                <a:solidFill>
                  <a:srgbClr val="0B2A4A"/>
                </a:solidFill>
                <a:latin typeface="Calibri"/>
              </a:rPr>
              <a:t>Recommendation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352000" y="34567396"/>
            <a:ext cx="9276000" cy="12994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362" b="0" i="0" dirty="0">
                <a:solidFill>
                  <a:srgbClr val="1A1A1A"/>
                </a:solidFill>
                <a:latin typeface="Calibri"/>
              </a:rPr>
              <a:t>M6 for production </a:t>
            </a:r>
            <a:r>
              <a:rPr lang="en-IL" sz="2362" b="0" i="0" dirty="0">
                <a:solidFill>
                  <a:srgbClr val="1A1A1A"/>
                </a:solidFill>
                <a:latin typeface="Calibri"/>
              </a:rPr>
              <a:t>-</a:t>
            </a:r>
            <a:r>
              <a:rPr sz="2362" b="0" i="0" dirty="0">
                <a:solidFill>
                  <a:srgbClr val="1A1A1A"/>
                </a:solidFill>
                <a:latin typeface="Calibri"/>
              </a:rPr>
              <a:t> best accuracy, most balanced predictor, and dramatically cheaper/faster than any prompted LLM. M1 (TFIDF + LR) as a </a:t>
            </a:r>
            <a:r>
              <a:rPr sz="2362" b="0" i="0" dirty="0" err="1">
                <a:solidFill>
                  <a:srgbClr val="1A1A1A"/>
                </a:solidFill>
                <a:latin typeface="Calibri"/>
              </a:rPr>
              <a:t>CPUonly</a:t>
            </a:r>
            <a:r>
              <a:rPr sz="2362" b="0" i="0" dirty="0">
                <a:solidFill>
                  <a:srgbClr val="1A1A1A"/>
                </a:solidFill>
                <a:latin typeface="Calibri"/>
              </a:rPr>
              <a:t> fallback at 0.74 Macro F1.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8000" y="37225788"/>
            <a:ext cx="28980000" cy="2232000"/>
          </a:xfrm>
          <a:prstGeom prst="rect">
            <a:avLst/>
          </a:prstGeom>
          <a:solidFill>
            <a:srgbClr val="4E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296000" y="37352424"/>
            <a:ext cx="43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75" b="1" i="0" dirty="0">
                <a:solidFill>
                  <a:srgbClr val="FFFFFF"/>
                </a:solidFill>
                <a:latin typeface="Calibri"/>
              </a:rPr>
              <a:t>OVERALL CONCLUSION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96000" y="37811318"/>
            <a:ext cx="27684000" cy="1575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0" i="0" dirty="0">
                <a:solidFill>
                  <a:srgbClr val="FFFFFF"/>
                </a:solidFill>
                <a:latin typeface="Calibri"/>
              </a:rPr>
              <a:t>Both phases point to the same lesson: for </a:t>
            </a:r>
            <a:r>
              <a:rPr sz="2800" b="0" i="0" dirty="0" err="1">
                <a:solidFill>
                  <a:srgbClr val="FFFFFF"/>
                </a:solidFill>
                <a:latin typeface="Calibri"/>
              </a:rPr>
              <a:t>sarcastictext</a:t>
            </a:r>
            <a:r>
              <a:rPr sz="2800" b="0" i="0" dirty="0">
                <a:solidFill>
                  <a:srgbClr val="FFFFFF"/>
                </a:solidFill>
                <a:latin typeface="Calibri"/>
              </a:rPr>
              <a:t> processing, a model specifically adapted to labeled, </a:t>
            </a:r>
            <a:r>
              <a:rPr sz="2800" b="0" i="0" dirty="0" err="1">
                <a:solidFill>
                  <a:srgbClr val="FFFFFF"/>
                </a:solidFill>
                <a:latin typeface="Calibri"/>
              </a:rPr>
              <a:t>indomain</a:t>
            </a:r>
            <a:r>
              <a:rPr sz="2800" b="0" i="0" dirty="0">
                <a:solidFill>
                  <a:srgbClr val="FFFFFF"/>
                </a:solidFill>
                <a:latin typeface="Calibri"/>
              </a:rPr>
              <a:t> data </a:t>
            </a:r>
            <a:r>
              <a:rPr lang="en-IL" sz="2800" b="0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2800" b="0" i="0" dirty="0">
                <a:solidFill>
                  <a:srgbClr val="FFFFFF"/>
                </a:solidFill>
                <a:latin typeface="Calibri"/>
              </a:rPr>
              <a:t> whether judging rewrite quality or classifying sarcasm directly </a:t>
            </a:r>
            <a:r>
              <a:rPr lang="en-IL" sz="2800" b="0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2800" b="0" i="0" dirty="0">
                <a:solidFill>
                  <a:srgbClr val="FFFFFF"/>
                </a:solidFill>
                <a:latin typeface="Calibri"/>
              </a:rPr>
              <a:t> outperforms a </a:t>
            </a:r>
            <a:r>
              <a:rPr sz="2800" b="0" i="0" dirty="0" err="1">
                <a:solidFill>
                  <a:srgbClr val="FFFFFF"/>
                </a:solidFill>
                <a:latin typeface="Calibri"/>
              </a:rPr>
              <a:t>generalpurpose</a:t>
            </a:r>
            <a:r>
              <a:rPr sz="2800" b="0" i="0" dirty="0">
                <a:solidFill>
                  <a:srgbClr val="FFFFFF"/>
                </a:solidFill>
                <a:latin typeface="Calibri"/>
              </a:rPr>
              <a:t> LLM prompted zero/</a:t>
            </a:r>
            <a:r>
              <a:rPr sz="2800" b="0" i="0" dirty="0" err="1">
                <a:solidFill>
                  <a:srgbClr val="FFFFFF"/>
                </a:solidFill>
                <a:latin typeface="Calibri"/>
              </a:rPr>
              <a:t>fewshot</a:t>
            </a:r>
            <a:r>
              <a:rPr sz="2800" b="0" i="0" dirty="0">
                <a:solidFill>
                  <a:srgbClr val="FFFFFF"/>
                </a:solidFill>
                <a:latin typeface="Calibri"/>
              </a:rPr>
              <a:t>. Adding “intelligence” to prompts (examples, reasoning chains, more elaborate phrasing) did not help, and at times actively hurt, in either phase.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8000" y="39737106"/>
            <a:ext cx="2898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75" b="1" i="0" dirty="0">
                <a:solidFill>
                  <a:srgbClr val="0B2A4A"/>
                </a:solidFill>
                <a:latin typeface="Calibri"/>
              </a:rPr>
              <a:t>REFERENCES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8000" y="40277106"/>
            <a:ext cx="28980000" cy="655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37" b="0" i="0" dirty="0">
                <a:solidFill>
                  <a:srgbClr val="555555"/>
                </a:solidFill>
                <a:latin typeface="Calibri"/>
              </a:rPr>
              <a:t>[1] Peled &amp; Reichart (2017). Sarcasm SIGN: Interpreting Sarcasm with Sentiment Based Monolingual Machine Translation. ACL 2017.   [2] </a:t>
            </a:r>
            <a:r>
              <a:rPr sz="1837" b="0" i="0" dirty="0" err="1">
                <a:solidFill>
                  <a:srgbClr val="555555"/>
                </a:solidFill>
                <a:latin typeface="Calibri"/>
              </a:rPr>
              <a:t>Oraby</a:t>
            </a:r>
            <a:r>
              <a:rPr sz="1837" b="0" i="0" dirty="0">
                <a:solidFill>
                  <a:srgbClr val="555555"/>
                </a:solidFill>
                <a:latin typeface="Calibri"/>
              </a:rPr>
              <a:t> et al. (2016). Creating and Characterizing a Diverse Corpus of Sarcasm in Dialogue. SIGDIAL 2016.   [3] Calderon, Reichart &amp; Dror (2025). The Alternative Annotator Test for </a:t>
            </a:r>
            <a:r>
              <a:rPr sz="1837" b="0" i="0" dirty="0" err="1">
                <a:solidFill>
                  <a:srgbClr val="555555"/>
                </a:solidFill>
                <a:latin typeface="Calibri"/>
              </a:rPr>
              <a:t>LLMasaJudge</a:t>
            </a:r>
            <a:r>
              <a:rPr sz="1837" b="0" i="0" dirty="0">
                <a:solidFill>
                  <a:srgbClr val="555555"/>
                </a:solidFill>
                <a:latin typeface="Calibri"/>
              </a:rPr>
              <a:t>. ACL 2025.   [4] He, Gao &amp; Chen (2023). DeBERTaV3. ICLR 2023.   [5] Khattab et al. (2024). </a:t>
            </a:r>
            <a:r>
              <a:rPr sz="1837" b="0" i="0" dirty="0" err="1">
                <a:solidFill>
                  <a:srgbClr val="555555"/>
                </a:solidFill>
                <a:latin typeface="Calibri"/>
              </a:rPr>
              <a:t>DSPy</a:t>
            </a:r>
            <a:r>
              <a:rPr sz="1837" b="0" i="0" dirty="0">
                <a:solidFill>
                  <a:srgbClr val="555555"/>
                </a:solidFill>
                <a:latin typeface="Calibri"/>
              </a:rPr>
              <a:t>: Compiling Declarative Language Model Calls into </a:t>
            </a:r>
            <a:r>
              <a:rPr sz="1837" b="0" i="0" dirty="0" err="1">
                <a:solidFill>
                  <a:srgbClr val="555555"/>
                </a:solidFill>
                <a:latin typeface="Calibri"/>
              </a:rPr>
              <a:t>SelfImproving</a:t>
            </a:r>
            <a:r>
              <a:rPr sz="1837" b="0" i="0" dirty="0">
                <a:solidFill>
                  <a:srgbClr val="555555"/>
                </a:solidFill>
                <a:latin typeface="Calibri"/>
              </a:rPr>
              <a:t> Pipelines. ICLR 2024.   [6] Qwen Team, Alibaba Cloud (2025). Qwen3 Technical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1205</Words>
  <Application>Microsoft Macintosh PowerPoint</Application>
  <PresentationFormat>Custom</PresentationFormat>
  <Paragraphs>74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Aya Grabarsky</cp:lastModifiedBy>
  <cp:revision>3</cp:revision>
  <dcterms:created xsi:type="dcterms:W3CDTF">2013-01-27T09:14:16Z</dcterms:created>
  <dcterms:modified xsi:type="dcterms:W3CDTF">2026-08-17T14:49:19Z</dcterms:modified>
  <cp:category/>
</cp:coreProperties>
</file>