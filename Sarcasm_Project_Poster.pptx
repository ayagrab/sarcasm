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8"/>
  </p:normalViewPr>
  <p:slideViewPr>
    <p:cSldViewPr snapToGrid="0" snapToObjects="1">
      <p:cViewPr>
        <p:scale>
          <a:sx n="53" d="100"/>
          <a:sy n="53" d="100"/>
        </p:scale>
        <p:origin x="-400" y="-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8000" y="792000"/>
            <a:ext cx="30276000" cy="5940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40000"/>
            <a:ext cx="30276000" cy="216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8000" y="792000"/>
            <a:ext cx="28980000" cy="151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50" b="1" i="0">
                <a:solidFill>
                  <a:srgbClr val="FFFFFF"/>
                </a:solidFill>
                <a:latin typeface="Calibri"/>
              </a:rPr>
              <a:t>Sarcasm Interpretation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2376000"/>
            <a:ext cx="28980000" cy="6102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50" b="0" i="1" dirty="0">
                <a:solidFill>
                  <a:srgbClr val="CFE3DC"/>
                </a:solidFill>
                <a:latin typeface="Calibri"/>
              </a:rPr>
              <a:t>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TwoPhase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Study in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SarcasticText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Neutralization and Classification </a:t>
            </a:r>
            <a:r>
              <a:rPr lang="en-IL" sz="3850" b="0" i="1" dirty="0">
                <a:solidFill>
                  <a:srgbClr val="CFE3DC"/>
                </a:solidFill>
                <a:latin typeface="Calibri"/>
              </a:rPr>
              <a:t>-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from LLM Prompting to 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FineTuned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Transformer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3816000"/>
            <a:ext cx="28980000" cy="527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25" b="1" i="0" dirty="0">
                <a:solidFill>
                  <a:srgbClr val="FFFFFF"/>
                </a:solidFill>
                <a:latin typeface="Calibri"/>
              </a:rPr>
              <a:t>Aya Grabarsky   ·   Sofia Torgovezky   ·   Anat</a:t>
            </a:r>
            <a:r>
              <a:rPr lang="he-IL" sz="3325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325" b="1" i="0" dirty="0">
                <a:solidFill>
                  <a:srgbClr val="FFFFFF"/>
                </a:solidFill>
                <a:latin typeface="Calibri"/>
              </a:rPr>
              <a:t>Linor Lorman   ·   Yehoraz BenYehuda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608000"/>
            <a:ext cx="28980000" cy="416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25" b="0" i="0" dirty="0">
                <a:solidFill>
                  <a:srgbClr val="CFE3DC"/>
                </a:solidFill>
                <a:latin typeface="Calibri"/>
              </a:rPr>
              <a:t>Supervised by Lotem Peled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Cohen   |   Technion – Israel Institute of Technology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  | 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8000" y="6624000"/>
            <a:ext cx="28980000" cy="208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8000" y="6624000"/>
            <a:ext cx="216000" cy="2088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6000" y="6840000"/>
            <a:ext cx="324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>
                <a:solidFill>
                  <a:srgbClr val="0B2A4A"/>
                </a:solidFill>
                <a:latin typeface="Calibri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7272000"/>
            <a:ext cx="27684000" cy="14920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712" b="0" i="0" dirty="0">
                <a:solidFill>
                  <a:srgbClr val="1A1A1A"/>
                </a:solidFill>
                <a:latin typeface="Calibri"/>
              </a:rPr>
              <a:t>Sarcasm inverts literal meaning, causing sentiment and moderation systems to fail silently and confidently. This project first builds and statistically validates an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LLMjudge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benchmark for rewriting sarcastic text as sincere text (Part I) </a:t>
            </a:r>
            <a:r>
              <a:rPr lang="en-IL" sz="2712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then, motivated by that benchmark's own error analysis showing models repeatedly fail to even recognize sarcasm, runs a controlled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sixmethod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comparison for sarcasm detection itself (Part II). Both phases converge on one conclusion: a model adapted to labeled,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indomain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data outperforms a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generalpurpose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LLM used zero/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9216000"/>
            <a:ext cx="30276000" cy="445875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8000" y="9276801"/>
            <a:ext cx="28980000" cy="324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94" b="1" i="0" dirty="0">
                <a:solidFill>
                  <a:srgbClr val="FFFFFF"/>
                </a:solidFill>
                <a:latin typeface="Calibri"/>
              </a:rPr>
              <a:t>PART I </a:t>
            </a:r>
            <a:r>
              <a:rPr lang="en-IL" sz="2494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494" b="1" i="0" dirty="0">
                <a:solidFill>
                  <a:srgbClr val="FFFFFF"/>
                </a:solidFill>
                <a:latin typeface="Calibri"/>
              </a:rPr>
              <a:t> SARCASM INTERPRETATION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Problem &amp;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10229352"/>
            <a:ext cx="9276000" cy="2925727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Task: </a:t>
            </a:r>
            <a:r>
              <a:rPr>
                <a:solidFill>
                  <a:srgbClr val="1A1A1A"/>
                </a:solidFill>
                <a:latin typeface="Calibri"/>
              </a:rPr>
              <a:t>generate a sincere rewrite of a sarcastic tweet and test whether an LLM judge can replace human annotators.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Data &amp; models: </a:t>
            </a:r>
            <a:r>
              <a:rPr>
                <a:solidFill>
                  <a:srgbClr val="1A1A1A"/>
                </a:solidFill>
                <a:latin typeface="Calibri"/>
              </a:rPr>
              <a:t>SIGN paper's test tweets (Peled &amp; Reichart, 2017); 5 candidates surveyed → 3 used (Gemini, Nvidia Nemotron, Liquid LFM), 4 prompt variants each.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Evaluation: </a:t>
            </a:r>
            <a:r>
              <a:rPr>
                <a:solidFill>
                  <a:srgbClr val="1A1A1A"/>
                </a:solidFill>
                <a:latin typeface="Calibri"/>
              </a:rPr>
              <a:t>automatic metrics (BLEU/ROUGE/PINC), an LLM judge (GPT-OSS 20B, 1–3 scale), and 3 human annotators on 70 tweets.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13398283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Statistical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13763090"/>
            <a:ext cx="9276000" cy="192841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Alt-Test: </a:t>
            </a:r>
            <a:r>
              <a:rPr>
                <a:solidFill>
                  <a:srgbClr val="1A1A1A"/>
                </a:solidFill>
                <a:latin typeface="Calibri"/>
              </a:rPr>
              <a:t>leave-one-annotator-out test (Calderon et al., 2025) – Winning Rate 0.67, Advantage Probability 0.77 at ε=0.2 → PASSED.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Fleiss’ κ = 0.282: </a:t>
            </a:r>
            <a:r>
              <a:rPr>
                <a:solidFill>
                  <a:srgbClr val="1A1A1A"/>
                </a:solidFill>
                <a:latin typeface="Calibri"/>
              </a:rPr>
              <a:t>“fair agreement” among human annotators – sarcasm translation is subjective even for people.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19" name="Picture 18" descr="1_model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00" y="10229352"/>
            <a:ext cx="4530000" cy="2911012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10500000" y="13160364"/>
            <a:ext cx="453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9" b="0" i="1" dirty="0">
                <a:solidFill>
                  <a:srgbClr val="555555"/>
                </a:solidFill>
                <a:latin typeface="Calibri"/>
              </a:rPr>
              <a:t>Fig. 1 </a:t>
            </a:r>
            <a:r>
              <a:rPr lang="en-IL" sz="1309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Human vs. </a:t>
            </a:r>
            <a:r>
              <a:rPr sz="1309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score, by model</a:t>
            </a:r>
          </a:p>
        </p:txBody>
      </p:sp>
      <p:pic>
        <p:nvPicPr>
          <p:cNvPr id="23" name="Picture 22" descr="4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6000" y="10229352"/>
            <a:ext cx="4530000" cy="341006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15246000" y="13659415"/>
            <a:ext cx="4530000" cy="3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9" b="0" i="1" dirty="0">
                <a:solidFill>
                  <a:srgbClr val="555555"/>
                </a:solidFill>
                <a:latin typeface="Calibri"/>
              </a:rPr>
              <a:t>Fig. 3 </a:t>
            </a:r>
            <a:r>
              <a:rPr lang="en-IL" sz="1309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Confusion matrix: human vs. </a:t>
            </a:r>
            <a:r>
              <a:rPr sz="1309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52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52000" y="10229352"/>
            <a:ext cx="9276000" cy="264329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Best model: </a:t>
            </a:r>
            <a:r>
              <a:rPr>
                <a:solidFill>
                  <a:srgbClr val="1A1A1A"/>
                </a:solidFill>
                <a:latin typeface="Calibri"/>
              </a:rPr>
              <a:t>Nvidia led human-rated quality (~2.25/3), Gemini close second, Liquid a distant last (~1.3).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Rewriting strategies: </a:t>
            </a:r>
            <a:r>
              <a:rPr>
                <a:solidFill>
                  <a:srgbClr val="1A1A1A"/>
                </a:solidFill>
                <a:latin typeface="Calibri"/>
              </a:rPr>
              <a:t>Gemini = explanatory expansion; Nvidia = stable precision; Liquid = unstable reduction (near-zero source overlap).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Judge vs. human: </a:t>
            </a:r>
            <a:r>
              <a:rPr>
                <a:solidFill>
                  <a:srgbClr val="1A1A1A"/>
                </a:solidFill>
                <a:latin typeface="Calibri"/>
              </a:rPr>
              <a:t>67.1% agreement on outright failures down to 31.4% on nuanced quality – semantic rigidity &amp; fluency bias found.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52000" y="13115849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Conclusion → Pivot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52000" y="13480656"/>
            <a:ext cx="9276000" cy="9812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83" b="0" i="0" dirty="0">
                <a:solidFill>
                  <a:srgbClr val="1A1A1A"/>
                </a:solidFill>
                <a:latin typeface="Calibri"/>
              </a:rPr>
              <a:t>The recurring failure was models not recognizing sarcasm in the first place – no rewriting-prompt fix helps a misread input. This motivated Part II: treat detection as its own rigorously-compared problem.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16218447"/>
            <a:ext cx="30276000" cy="569857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000" y="16296155"/>
            <a:ext cx="28980000" cy="414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20" b="1" i="0" dirty="0">
                <a:solidFill>
                  <a:srgbClr val="FFFFFF"/>
                </a:solidFill>
                <a:latin typeface="Calibri"/>
              </a:rPr>
              <a:t>PART II </a:t>
            </a:r>
            <a:r>
              <a:rPr lang="en-IL" sz="282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20" b="1" i="0" dirty="0">
                <a:solidFill>
                  <a:srgbClr val="FFFFFF"/>
                </a:solidFill>
                <a:latin typeface="Calibri"/>
              </a:rPr>
              <a:t> SARCASM DETECTION: A SIXMETHOD COMPARISON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8000" y="16995524"/>
          <a:ext cx="28979998" cy="2460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3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65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1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FFFFFF"/>
                          </a:solidFill>
                        </a:rPr>
                        <a:t>TEST Macro F1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TFIDF + Logistic Regression (classical baseline)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0.7403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M2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zeroshot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prompting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0.6005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fewshot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prompting (8 random demos)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0.5947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M4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structured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stepbystep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reasoning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0.5758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M5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DSPy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MIPROv2 </a:t>
                      </a:r>
                      <a:r>
                        <a:rPr lang="en-IL" sz="2044" b="0" dirty="0">
                          <a:solidFill>
                            <a:srgbClr val="1A1A1A"/>
                          </a:solidFill>
                        </a:rPr>
                        <a:t>-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optimized prompt + demos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0.6681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537">
                <a:tc>
                  <a:txBody>
                    <a:bodyPr/>
                    <a:lstStyle/>
                    <a:p>
                      <a:pPr algn="l"/>
                      <a:r>
                        <a:rPr sz="2044" b="1">
                          <a:solidFill>
                            <a:srgbClr val="0B2A4A"/>
                          </a:solidFill>
                        </a:rPr>
                        <a:t>M6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 dirty="0">
                          <a:solidFill>
                            <a:srgbClr val="0B2A4A"/>
                          </a:solidFill>
                        </a:rPr>
                        <a:t>Finetuned </a:t>
                      </a:r>
                      <a:r>
                        <a:rPr sz="2044" b="1" dirty="0" err="1">
                          <a:solidFill>
                            <a:srgbClr val="0B2A4A"/>
                          </a:solidFill>
                        </a:rPr>
                        <a:t>microsoft</a:t>
                      </a:r>
                      <a:r>
                        <a:rPr sz="2044" b="1" dirty="0">
                          <a:solidFill>
                            <a:srgbClr val="0B2A4A"/>
                          </a:solidFill>
                        </a:rPr>
                        <a:t>/debertav3base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0B2A4A"/>
                          </a:solidFill>
                        </a:rPr>
                        <a:t>0.8209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8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Dataset &amp; Setup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" y="20440568"/>
            <a:ext cx="9276000" cy="4291961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Dataset: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Sarcasm Corpus V2 (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Oraby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et al., 2016)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9,386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humanannotated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forum posts, ~50/50 balanced, 3 overlapping categories (GEN/HYP/RQ).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Split: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one canonical 70/15/15 TRAIN/DEV/TEST split (seed 42)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grouped by duplicate text (the only leakage vector) + stratified by label.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Sealing policy: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TEST evaluated exactly once per method, only after every configuration was fully frozen on DEV.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Shared evaluator: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one implementation of Accuracy /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perclass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PRF1 / Macro F1 / confusion matrix used identically by all six methods.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Base LLM fixed: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M2–M5 all run the same local Qwen34BInstruct2507, isolating prompting technique from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basemodel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capability.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37" name="Picture 36" descr="macro_f1_compari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00" y="20440568"/>
            <a:ext cx="4530000" cy="162035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10500000" y="22119208"/>
            <a:ext cx="4530000" cy="3272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5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Macro F1 by method, DEV vs. sealed TEST</a:t>
            </a:r>
          </a:p>
        </p:txBody>
      </p:sp>
      <p:pic>
        <p:nvPicPr>
          <p:cNvPr id="39" name="Picture 38" descr="per_class_f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6000" y="20440568"/>
            <a:ext cx="4530000" cy="162035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15246000" y="22119208"/>
            <a:ext cx="4530000" cy="3272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6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Perclass F1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the </a:t>
            </a:r>
            <a:r>
              <a:rPr sz="1480" b="0" i="1" dirty="0" err="1">
                <a:solidFill>
                  <a:srgbClr val="555555"/>
                </a:solidFill>
                <a:latin typeface="Calibri"/>
              </a:rPr>
              <a:t>sarcasticoverprediction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bias</a:t>
            </a:r>
          </a:p>
        </p:txBody>
      </p:sp>
      <p:pic>
        <p:nvPicPr>
          <p:cNvPr id="41" name="Picture 40" descr="cross_model_agreem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0000" y="22702016"/>
            <a:ext cx="4530000" cy="20182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10500000" y="24778589"/>
            <a:ext cx="4530000" cy="3272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7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Pairwise prediction agreement, all six methods</a:t>
            </a:r>
          </a:p>
        </p:txBody>
      </p:sp>
      <p:pic>
        <p:nvPicPr>
          <p:cNvPr id="43" name="Picture 42" descr="category_breakdow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6000" y="22702016"/>
            <a:ext cx="4530000" cy="112743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15246000" y="23887734"/>
            <a:ext cx="4530000" cy="3272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8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Accuracy by category (GEN/HYP/RQ), all six methods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352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352000" y="20440568"/>
            <a:ext cx="9276000" cy="4291961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Winner </a:t>
            </a:r>
            <a:r>
              <a:rPr lang="en-IL" sz="1903" b="1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 M6 (finetuned </a:t>
            </a:r>
            <a:r>
              <a:rPr sz="1903" b="1" dirty="0" err="1">
                <a:solidFill>
                  <a:srgbClr val="1A1A1A"/>
                </a:solidFill>
                <a:latin typeface="Calibri"/>
              </a:rPr>
              <a:t>DeBERTa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):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0.8209 Macro F1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15–25 points over every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promptedLLM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variant of the same base model, while running far faster &amp; cheaper.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More prompting ≠ better: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plain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zeroshot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beat both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and structured reasoning; only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DSPy's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automated MIPROv2 search improved on it.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Universal LLM bias: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every prompted method overpredicts “sarcastic”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94–97% sarcastic recall vs. only 28–44%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notsarcastic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recall.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Two clear families: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the 4 LLM methods agree with each other 88–95% of the time; M1+M6 (trained methods) agree with each other 81%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but only 62–71% with the LLM family.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Hardest cases: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89/1,340 TEST examples (6.6%) are misclassified by every one of the 6 methods, including the winner.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352000" y="25043360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Recommendation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352000" y="25509606"/>
            <a:ext cx="9276000" cy="9349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3" b="0" i="0" dirty="0">
                <a:solidFill>
                  <a:srgbClr val="1A1A1A"/>
                </a:solidFill>
                <a:latin typeface="Calibri"/>
              </a:rPr>
              <a:t>M6 for production </a:t>
            </a:r>
            <a:r>
              <a:rPr lang="en-IL" sz="1903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b="0" i="0" dirty="0">
                <a:solidFill>
                  <a:srgbClr val="1A1A1A"/>
                </a:solidFill>
                <a:latin typeface="Calibri"/>
              </a:rPr>
              <a:t> best accuracy, most balanced predictor, and dramatically cheaper/faster than any prompted LLM. M1 (TFIDF + LR) as a </a:t>
            </a:r>
            <a:r>
              <a:rPr sz="1903" b="0" i="0" dirty="0" err="1">
                <a:solidFill>
                  <a:srgbClr val="1A1A1A"/>
                </a:solidFill>
                <a:latin typeface="Calibri"/>
              </a:rPr>
              <a:t>CPUonly</a:t>
            </a:r>
            <a:r>
              <a:rPr sz="1903" b="0" i="0" dirty="0">
                <a:solidFill>
                  <a:srgbClr val="1A1A1A"/>
                </a:solidFill>
                <a:latin typeface="Calibri"/>
              </a:rPr>
              <a:t> fallback at 0.74 Macro F1.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8000" y="37225788"/>
            <a:ext cx="28980000" cy="2232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296000" y="37352424"/>
            <a:ext cx="43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 dirty="0">
                <a:solidFill>
                  <a:srgbClr val="FFFFFF"/>
                </a:solidFill>
                <a:latin typeface="Calibri"/>
              </a:rPr>
              <a:t>OVERALL 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6000" y="37811318"/>
            <a:ext cx="27684000" cy="1575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0" i="0" dirty="0">
                <a:solidFill>
                  <a:srgbClr val="FFFFFF"/>
                </a:solidFill>
                <a:latin typeface="Calibri"/>
              </a:rPr>
              <a:t>Both phases point to the same lesson: for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sarcastictext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processing, a model specifically adapted to labeled,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indomain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data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whether judging rewrite quality or classifying sarcasm directly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outperforms a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generalpurpose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LLM prompted zero/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fewshot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. Adding “intelligence” to prompts (examples, reasoning chains, more elaborate phrasing) did not help, and at times actively hurt, in either phase.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000" y="39737106"/>
            <a:ext cx="289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75" b="1" i="0" dirty="0">
                <a:solidFill>
                  <a:srgbClr val="0B2A4A"/>
                </a:solidFill>
                <a:latin typeface="Calibri"/>
              </a:rPr>
              <a:t>REFERENCES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000" y="40277106"/>
            <a:ext cx="28980000" cy="655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37" b="0" i="0" dirty="0">
                <a:solidFill>
                  <a:srgbClr val="555555"/>
                </a:solidFill>
                <a:latin typeface="Calibri"/>
              </a:rPr>
              <a:t>[1] Peled &amp; Reichart (2017). Sarcasm SIGN: Interpreting Sarcasm with Sentiment Based Monolingual Machine Translation. ACL 2017.   [2]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Oraby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et al. (2016). Creating and Characterizing a Diverse Corpus of Sarcasm in Dialogue. SIGDIAL 2016.   [3] Calderon, Reichart &amp; Dror (2025). The Alternative Annotator Test for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LLMasaJudge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. ACL 2025.   [4] He, Gao &amp; Chen (2023). DeBERTaV3. ICLR 2023.   [5] Khattab et al. (2024).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DSPy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: Compiling Declarative Language Model Calls into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SelfImproving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Pipelines. ICLR 2024.   [6] Qwen Team, Alibaba Cloud (2025). Qwen3 Technical Report.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27422362"/>
            <a:ext cx="30276000" cy="500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000" y="27500362"/>
            <a:ext cx="28980000" cy="4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FFFFFF"/>
                </a:solidFill>
                <a:latin typeface="Calibri"/>
              </a:rPr>
              <a:t>PART III - SIGN GENERALIZATION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8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Setup &amp; Method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00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352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Key Results &amp; Conclusion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8000" y="28328362"/>
            <a:ext cx="9276000" cy="87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Question: </a:t>
            </a:r>
            <a:r>
              <a:rPr sz="1903">
                <a:solidFill>
                  <a:srgbClr val="1A1A1A"/>
                </a:solidFill>
                <a:latin typeface="Calibri"/>
              </a:rPr>
              <a:t>do Part II's six frozen classifiers generalize to SIGN (tweets + up to 5 human sincere interpretations each)? Task A = detect the sarcastic original; Task B = tell it apart from its own interpretation.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Recipe: </a:t>
            </a:r>
            <a:r>
              <a:rPr sz="1903">
                <a:solidFill>
                  <a:srgbClr val="1A1A1A"/>
                </a:solidFill>
                <a:latin typeface="Calibri"/>
              </a:rPr>
              <a:t>zero-transfer first, then combine Dataset A TRAIN + SIGN Train (beats SIGN-only, avoids forgetting Dataset A) - swept across % of SIGN Train used and k interpretations per family.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Rigor: </a:t>
            </a:r>
            <a:r>
              <a:rPr sz="1903">
                <a:solidFill>
                  <a:srgbClr val="1A1A1A"/>
                </a:solidFill>
                <a:latin typeface="Calibri"/>
              </a:rPr>
              <a:t>family-safe splits (no tweet-family ever leaks across train/eval); a manual row-by-row review of predictions found ~28% of "sincere" interpretations are exact duplicates of their own sarcastic original - a real data-quality ceiling, disclosed not filtered.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Domain shift confirmed: </a:t>
            </a:r>
            <a:r>
              <a:rPr sz="1903">
                <a:solidFill>
                  <a:srgbClr val="1A1A1A"/>
                </a:solidFill>
                <a:latin typeface="Calibri"/>
              </a:rPr>
              <a:t>SIGN tweets average 13.9 words vs. Dataset A's 48.7; punctuation/casing almost entirely stripped -- forum debate vs. tweet-length text, a real genre gap (Phase 2).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Family-aware views: </a:t>
            </a:r>
            <a:r>
              <a:rPr sz="1903">
                <a:solidFill>
                  <a:srgbClr val="1A1A1A"/>
                </a:solidFill>
                <a:latin typeface="Calibri"/>
              </a:rPr>
              <a:t>beyond the two tasks, a Primary-Reference view (original vs. the single best interpretation) and a Full-Family view (original + all 5) test whether easier sub-cases hide behind the headline numbers.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352000" y="28328362"/>
            <a:ext cx="9276000" cy="87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Zero-transfer: </a:t>
            </a:r>
            <a:r>
              <a:rPr sz="1903">
                <a:solidFill>
                  <a:srgbClr val="1A1A1A"/>
                </a:solidFill>
                <a:latin typeface="Calibri"/>
              </a:rPr>
              <a:t>collapses on Task B (M6: 0.82 -&gt; 0.47 Macro F1) but still detects most originals (M1 79.6%, M6 63.8%) - the failure is discrimination, not detection.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Domain adaptation: </a:t>
            </a:r>
            <a:r>
              <a:rPr sz="1903">
                <a:solidFill>
                  <a:srgbClr val="1A1A1A"/>
                </a:solidFill>
                <a:latin typeface="Calibri"/>
              </a:rPr>
              <a:t>combining SIGN Train with Dataset A (not replacing it) closes most of the SIGN gap while Dataset A stays intact - M6 0.82 -&gt; 0.82 exactly, M1 0.74 -&gt; 0.75.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Sharpest finding: </a:t>
            </a:r>
            <a:r>
              <a:rPr sz="1903">
                <a:solidFill>
                  <a:srgbClr val="1A1A1A"/>
                </a:solidFill>
                <a:latin typeface="Calibri"/>
              </a:rPr>
              <a:t>more SIGN data or interpretations improve M6 on both Task A and Task B; the same signal forces M1 to trade Task A for Task B (74.7% -&gt; 55.9% detection as k grows) - a real model-capacity contrast, repeated across 3 independent experiments.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Family evaluation: </a:t>
            </a:r>
            <a:r>
              <a:rPr sz="1903">
                <a:solidFill>
                  <a:srgbClr val="1A1A1A"/>
                </a:solidFill>
                <a:latin typeface="Calibri"/>
              </a:rPr>
              <a:t>getting an entire family right (original + all 5 interpretations) is near-unsolved for every method (0-3.8%) -- one interpretation right per family is plausible, all five is not.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Cross-phase link: </a:t>
            </a:r>
            <a:r>
              <a:rPr sz="1903">
                <a:solidFill>
                  <a:srgbClr val="1A1A1A"/>
                </a:solidFill>
                <a:latin typeface="Calibri"/>
              </a:rPr>
              <a:t>zero-shot Qwen3-4B detects 93.6% of SIGN originals (Task A) -- far above its own weaker Dataset A score -- pointing to a calibration limitation in prompted classification, not an inability to recognize sarcasm.</a:t>
            </a:r>
          </a:p>
          <a:p>
            <a:pPr>
              <a:spcBef>
                <a:spcPts val="1000"/>
              </a:spcBef>
            </a:pPr>
            <a:r>
              <a:rPr sz="1903" i="1">
                <a:solidFill>
                  <a:srgbClr val="0B2A4A"/>
                </a:solidFill>
                <a:latin typeface="Calibri"/>
              </a:rPr>
              <a:t>Conclusion: sarcasm detection transfers reasonably out-of-domain; the real gap is contrastive discrimination, closed by combining (not replacing) training data - at a real cost for a capacity-limited model, near-zero cost for a fine-tuned one.</a:t>
            </a:r>
          </a:p>
        </p:txBody>
      </p:sp>
      <p:pic>
        <p:nvPicPr>
          <p:cNvPr id="65" name="Picture 64" descr="confusion_matrices_m1_m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14923" y="25195851"/>
            <a:ext cx="3313283" cy="19000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500000" y="27115851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9 - Confusion matrices on TEST: M1 vs. M6, the two label-trained methods</a:t>
            </a:r>
          </a:p>
        </p:txBody>
      </p:sp>
      <p:pic>
        <p:nvPicPr>
          <p:cNvPr id="67" name="Picture 66" descr="linguistic_1_length_comparis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747091" y="14089415"/>
            <a:ext cx="2842572" cy="17000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500000" y="15809415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9">
                <a:solidFill>
                  <a:srgbClr val="1A1A1A"/>
                </a:solidFill>
                <a:latin typeface="Calibri"/>
              </a:rPr>
              <a:t>Fig. 4 - Word count, source vs. interpretation, by model</a:t>
            </a:r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38000" y="28328362"/>
            <a:ext cx="4277778" cy="1750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500000" y="30093362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9 - Learning curve: Macro F1 &amp; detection rate vs. % SIGN Train used (M1 vs. M6)</a:t>
            </a:r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138000" y="30343362"/>
            <a:ext cx="4476744" cy="17500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500000" y="32108362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10 - Interpretation-count ablation: Macro F1 &amp; detection rate vs. k (M1 vs. M6)</a:t>
            </a:r>
          </a:p>
        </p:txBody>
      </p:sp>
      <p:pic>
        <p:nvPicPr>
          <p:cNvPr id="73" name="Picture 72" descr="domain_adaptation_char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99628" y="32358362"/>
            <a:ext cx="4476744" cy="1750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500000" y="34123362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11 - Domain adaptation effect on SIGN Test vs. Dataset A TEST (M1 vs. M6)</a:t>
            </a:r>
          </a:p>
        </p:txBody>
      </p:sp>
      <p:pic>
        <p:nvPicPr>
          <p:cNvPr id="75" name="Picture 74" descr="length_distributi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85872" y="34373362"/>
            <a:ext cx="2893085" cy="17500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500000" y="36138362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12 - Word-length distribution: Dataset A vs. SIGN originals/interpretations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1202</Words>
  <Application>Microsoft Macintosh PowerPoint</Application>
  <PresentationFormat>Custom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Aya Grabarsky</cp:lastModifiedBy>
  <cp:revision>4</cp:revision>
  <dcterms:created xsi:type="dcterms:W3CDTF">2013-01-27T09:14:16Z</dcterms:created>
  <dcterms:modified xsi:type="dcterms:W3CDTF">2026-08-22T08:59:24Z</dcterms:modified>
  <cp:category/>
</cp:coreProperties>
</file>