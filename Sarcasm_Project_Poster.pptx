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30275213" cy="42803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367"/>
    <p:restoredTop sz="94658"/>
  </p:normalViewPr>
  <p:slideViewPr>
    <p:cSldViewPr snapToGrid="0" snapToObjects="1">
      <p:cViewPr>
        <p:scale>
          <a:sx n="53" d="100"/>
          <a:sy n="53" d="100"/>
        </p:scale>
        <p:origin x="-400" y="-1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8/22/26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8000" y="792000"/>
            <a:ext cx="30276000" cy="5940000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1" eaLnBrk="1" latinLnBrk="0" hangingPunct="1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5940000"/>
            <a:ext cx="30276000" cy="216000"/>
          </a:xfrm>
          <a:prstGeom prst="rect">
            <a:avLst/>
          </a:prstGeom>
          <a:solidFill>
            <a:srgbClr val="4EB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8000" y="792000"/>
            <a:ext cx="28980000" cy="151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450" b="1" i="0">
                <a:solidFill>
                  <a:srgbClr val="FFFFFF"/>
                </a:solidFill>
                <a:latin typeface="Calibri"/>
              </a:rPr>
              <a:t>Sarcasm Interpretation and Detection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8000" y="2376000"/>
            <a:ext cx="28980000" cy="61029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850" b="0" i="1" dirty="0">
                <a:solidFill>
                  <a:srgbClr val="CFE3DC"/>
                </a:solidFill>
                <a:latin typeface="Calibri"/>
              </a:rPr>
              <a:t>A </a:t>
            </a:r>
            <a:r>
              <a:rPr sz="3850" b="0" i="1" dirty="0" err="1">
                <a:solidFill>
                  <a:srgbClr val="CFE3DC"/>
                </a:solidFill>
                <a:latin typeface="Calibri"/>
              </a:rPr>
              <a:t>TwoPhase</a:t>
            </a:r>
            <a:r>
              <a:rPr sz="3850" b="0" i="1" dirty="0">
                <a:solidFill>
                  <a:srgbClr val="CFE3DC"/>
                </a:solidFill>
                <a:latin typeface="Calibri"/>
              </a:rPr>
              <a:t> Study in </a:t>
            </a:r>
            <a:r>
              <a:rPr sz="3850" b="0" i="1" dirty="0" err="1">
                <a:solidFill>
                  <a:srgbClr val="CFE3DC"/>
                </a:solidFill>
                <a:latin typeface="Calibri"/>
              </a:rPr>
              <a:t>SarcasticText</a:t>
            </a:r>
            <a:r>
              <a:rPr sz="3850" b="0" i="1" dirty="0">
                <a:solidFill>
                  <a:srgbClr val="CFE3DC"/>
                </a:solidFill>
                <a:latin typeface="Calibri"/>
              </a:rPr>
              <a:t> Neutralization and Classification </a:t>
            </a:r>
            <a:r>
              <a:rPr lang="en-IL" sz="3850" b="0" i="1" dirty="0">
                <a:solidFill>
                  <a:srgbClr val="CFE3DC"/>
                </a:solidFill>
                <a:latin typeface="Calibri"/>
              </a:rPr>
              <a:t>-</a:t>
            </a:r>
            <a:r>
              <a:rPr sz="3850" b="0" i="1" dirty="0">
                <a:solidFill>
                  <a:srgbClr val="CFE3DC"/>
                </a:solidFill>
                <a:latin typeface="Calibri"/>
              </a:rPr>
              <a:t> from LLM Prompting to a </a:t>
            </a:r>
            <a:r>
              <a:rPr sz="3850" b="0" i="1" dirty="0" err="1">
                <a:solidFill>
                  <a:srgbClr val="CFE3DC"/>
                </a:solidFill>
                <a:latin typeface="Calibri"/>
              </a:rPr>
              <a:t>FineTuned</a:t>
            </a:r>
            <a:r>
              <a:rPr sz="3850" b="0" i="1" dirty="0">
                <a:solidFill>
                  <a:srgbClr val="CFE3DC"/>
                </a:solidFill>
                <a:latin typeface="Calibri"/>
              </a:rPr>
              <a:t> Transformer Encoder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8000" y="3816000"/>
            <a:ext cx="28980000" cy="527067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3325" b="1" i="0" dirty="0">
                <a:solidFill>
                  <a:srgbClr val="FFFFFF"/>
                </a:solidFill>
                <a:latin typeface="Calibri"/>
              </a:rPr>
              <a:t>Aya Grabarsky   ·   Sofia Torgovezky   ·   Anat</a:t>
            </a:r>
            <a:r>
              <a:rPr lang="he-IL" sz="3325" b="1" i="0" dirty="0">
                <a:solidFill>
                  <a:srgbClr val="FFFFFF"/>
                </a:solidFill>
                <a:latin typeface="Calibri"/>
              </a:rPr>
              <a:t> </a:t>
            </a:r>
            <a:r>
              <a:rPr sz="3325" b="1" i="0" dirty="0">
                <a:solidFill>
                  <a:srgbClr val="FFFFFF"/>
                </a:solidFill>
                <a:latin typeface="Calibri"/>
              </a:rPr>
              <a:t>Linor Lorman   ·   Yehoraz BenYehuda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8000" y="4608000"/>
            <a:ext cx="28980000" cy="41607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25" b="0" i="0" dirty="0">
                <a:solidFill>
                  <a:srgbClr val="CFE3DC"/>
                </a:solidFill>
                <a:latin typeface="Calibri"/>
              </a:rPr>
              <a:t>Supervised by Lotem Peled</a:t>
            </a:r>
            <a:r>
              <a:rPr lang="he-IL" sz="2625" b="0" i="0" dirty="0">
                <a:solidFill>
                  <a:srgbClr val="CFE3DC"/>
                </a:solidFill>
                <a:latin typeface="Calibri"/>
              </a:rPr>
              <a:t> </a:t>
            </a:r>
            <a:r>
              <a:rPr sz="2625" b="0" i="0" dirty="0">
                <a:solidFill>
                  <a:srgbClr val="CFE3DC"/>
                </a:solidFill>
                <a:latin typeface="Calibri"/>
              </a:rPr>
              <a:t>Cohen   |   Technion – Israel Institute of Technology</a:t>
            </a:r>
            <a:r>
              <a:rPr lang="he-IL" sz="2625" b="0" i="0" dirty="0">
                <a:solidFill>
                  <a:srgbClr val="CFE3DC"/>
                </a:solidFill>
                <a:latin typeface="Calibri"/>
              </a:rPr>
              <a:t> </a:t>
            </a:r>
            <a:r>
              <a:rPr sz="2625" b="0" i="0" dirty="0">
                <a:solidFill>
                  <a:srgbClr val="CFE3DC"/>
                </a:solidFill>
                <a:latin typeface="Calibri"/>
              </a:rPr>
              <a:t>  |   August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648000" y="6624000"/>
            <a:ext cx="28980000" cy="2088000"/>
          </a:xfrm>
          <a:prstGeom prst="rect">
            <a:avLst/>
          </a:prstGeom>
          <a:solidFill>
            <a:srgbClr val="F4F6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8000" y="6624000"/>
            <a:ext cx="216000" cy="2088000"/>
          </a:xfrm>
          <a:prstGeom prst="rect">
            <a:avLst/>
          </a:prstGeom>
          <a:solidFill>
            <a:srgbClr val="4EB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296000" y="6840000"/>
            <a:ext cx="32400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975" b="1" i="0">
                <a:solidFill>
                  <a:srgbClr val="0B2A4A"/>
                </a:solidFill>
                <a:latin typeface="Calibri"/>
              </a:rPr>
              <a:t>ABSTRACT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96000" y="7272000"/>
            <a:ext cx="27684000" cy="149207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712" b="0" i="0" dirty="0">
                <a:solidFill>
                  <a:srgbClr val="1A1A1A"/>
                </a:solidFill>
                <a:latin typeface="Calibri"/>
              </a:rPr>
              <a:t>Sarcasm inverts literal meaning, causing sentiment and moderation systems to fail silently and confidently. This project first builds and statistically validates an </a:t>
            </a:r>
            <a:r>
              <a:rPr sz="2712" b="0" i="0" dirty="0" err="1">
                <a:solidFill>
                  <a:srgbClr val="1A1A1A"/>
                </a:solidFill>
                <a:latin typeface="Calibri"/>
              </a:rPr>
              <a:t>LLMjudge</a:t>
            </a:r>
            <a:r>
              <a:rPr sz="2712" b="0" i="0" dirty="0">
                <a:solidFill>
                  <a:srgbClr val="1A1A1A"/>
                </a:solidFill>
                <a:latin typeface="Calibri"/>
              </a:rPr>
              <a:t> benchmark for rewriting sarcastic text as sincere text (Part I) </a:t>
            </a:r>
            <a:r>
              <a:rPr lang="en-IL" sz="2712" b="0" i="0" dirty="0">
                <a:solidFill>
                  <a:srgbClr val="1A1A1A"/>
                </a:solidFill>
                <a:latin typeface="Calibri"/>
              </a:rPr>
              <a:t>-</a:t>
            </a:r>
            <a:r>
              <a:rPr sz="2712" b="0" i="0" dirty="0">
                <a:solidFill>
                  <a:srgbClr val="1A1A1A"/>
                </a:solidFill>
                <a:latin typeface="Calibri"/>
              </a:rPr>
              <a:t> then, motivated by that benchmark's own error analysis showing models repeatedly fail to even recognize sarcasm, runs a controlled </a:t>
            </a:r>
            <a:r>
              <a:rPr sz="2712" b="0" i="0" dirty="0" err="1">
                <a:solidFill>
                  <a:srgbClr val="1A1A1A"/>
                </a:solidFill>
                <a:latin typeface="Calibri"/>
              </a:rPr>
              <a:t>sixmethod</a:t>
            </a:r>
            <a:r>
              <a:rPr sz="2712" b="0" i="0" dirty="0">
                <a:solidFill>
                  <a:srgbClr val="1A1A1A"/>
                </a:solidFill>
                <a:latin typeface="Calibri"/>
              </a:rPr>
              <a:t> comparison for sarcasm detection itself (Part II). Both phases converge on one conclusion: a model adapted to labeled, </a:t>
            </a:r>
            <a:r>
              <a:rPr sz="2712" b="0" i="0" dirty="0" err="1">
                <a:solidFill>
                  <a:srgbClr val="1A1A1A"/>
                </a:solidFill>
                <a:latin typeface="Calibri"/>
              </a:rPr>
              <a:t>indomain</a:t>
            </a:r>
            <a:r>
              <a:rPr sz="2712" b="0" i="0" dirty="0">
                <a:solidFill>
                  <a:srgbClr val="1A1A1A"/>
                </a:solidFill>
                <a:latin typeface="Calibri"/>
              </a:rPr>
              <a:t> data outperforms a </a:t>
            </a:r>
            <a:r>
              <a:rPr sz="2712" b="0" i="0" dirty="0" err="1">
                <a:solidFill>
                  <a:srgbClr val="1A1A1A"/>
                </a:solidFill>
                <a:latin typeface="Calibri"/>
              </a:rPr>
              <a:t>generalpurpose</a:t>
            </a:r>
            <a:r>
              <a:rPr sz="2712" b="0" i="0" dirty="0">
                <a:solidFill>
                  <a:srgbClr val="1A1A1A"/>
                </a:solidFill>
                <a:latin typeface="Calibri"/>
              </a:rPr>
              <a:t> LLM used zero/</a:t>
            </a:r>
            <a:r>
              <a:rPr sz="2712" b="0" i="0" dirty="0" err="1">
                <a:solidFill>
                  <a:srgbClr val="1A1A1A"/>
                </a:solidFill>
                <a:latin typeface="Calibri"/>
              </a:rPr>
              <a:t>fewshot</a:t>
            </a:r>
            <a:r>
              <a:rPr sz="2712" b="0" i="0" dirty="0">
                <a:solidFill>
                  <a:srgbClr val="1A1A1A"/>
                </a:solidFill>
                <a:latin typeface="Calibri"/>
              </a:rPr>
              <a:t>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0" y="9216000"/>
            <a:ext cx="30276000" cy="445875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8000" y="9276801"/>
            <a:ext cx="28980000" cy="32427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494" b="1" i="0" dirty="0">
                <a:solidFill>
                  <a:srgbClr val="FFFFFF"/>
                </a:solidFill>
                <a:latin typeface="Calibri"/>
              </a:rPr>
              <a:t>PART I </a:t>
            </a:r>
            <a:r>
              <a:rPr lang="en-IL" sz="2494" b="1" i="0" dirty="0">
                <a:solidFill>
                  <a:srgbClr val="FFFFFF"/>
                </a:solidFill>
                <a:latin typeface="Calibri"/>
              </a:rPr>
              <a:t>-</a:t>
            </a:r>
            <a:r>
              <a:rPr sz="2494" b="1" i="0" dirty="0">
                <a:solidFill>
                  <a:srgbClr val="FFFFFF"/>
                </a:solidFill>
                <a:latin typeface="Calibri"/>
              </a:rPr>
              <a:t> SARCASM INTERPRETATION BENCHMARK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000" y="9864545"/>
            <a:ext cx="9276000" cy="2026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120" b="1" i="0">
                <a:solidFill>
                  <a:srgbClr val="0B2A4A"/>
                </a:solidFill>
                <a:latin typeface="Calibri"/>
              </a:rPr>
              <a:t>Problem &amp; Setup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000" y="10229352"/>
            <a:ext cx="9276000" cy="2925727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>
                <a:solidFill>
                  <a:srgbClr val="4EB39A"/>
                </a:solidFill>
                <a:latin typeface="Calibri"/>
              </a:rPr>
              <a:t>■  </a:t>
            </a:r>
            <a:r>
              <a:rPr b="1">
                <a:solidFill>
                  <a:srgbClr val="1A1A1A"/>
                </a:solidFill>
                <a:latin typeface="Calibri"/>
              </a:rPr>
              <a:t>Task: </a:t>
            </a:r>
            <a:r>
              <a:rPr>
                <a:solidFill>
                  <a:srgbClr val="1A1A1A"/>
                </a:solidFill>
                <a:latin typeface="Calibri"/>
              </a:rPr>
              <a:t>generate a sincere rewrite of a sarcastic tweet and test whether an LLM judge can replace human annotators.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>
                <a:solidFill>
                  <a:srgbClr val="4EB39A"/>
                </a:solidFill>
                <a:latin typeface="Calibri"/>
              </a:rPr>
              <a:t>■  </a:t>
            </a:r>
            <a:r>
              <a:rPr b="1">
                <a:solidFill>
                  <a:srgbClr val="1A1A1A"/>
                </a:solidFill>
                <a:latin typeface="Calibri"/>
              </a:rPr>
              <a:t>Data &amp; models: </a:t>
            </a:r>
            <a:r>
              <a:rPr>
                <a:solidFill>
                  <a:srgbClr val="1A1A1A"/>
                </a:solidFill>
                <a:latin typeface="Calibri"/>
              </a:rPr>
              <a:t>SIGN paper's test tweets (Peled &amp; Reichart, 2017); 5 candidates surveyed → 3 used (Gemini, Nvidia Nemotron, Liquid LFM), 4 prompt variants each.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>
                <a:solidFill>
                  <a:srgbClr val="4EB39A"/>
                </a:solidFill>
                <a:latin typeface="Calibri"/>
              </a:rPr>
              <a:t>■  </a:t>
            </a:r>
            <a:r>
              <a:rPr b="1">
                <a:solidFill>
                  <a:srgbClr val="1A1A1A"/>
                </a:solidFill>
                <a:latin typeface="Calibri"/>
              </a:rPr>
              <a:t>Evaluation: </a:t>
            </a:r>
            <a:r>
              <a:rPr>
                <a:solidFill>
                  <a:srgbClr val="1A1A1A"/>
                </a:solidFill>
                <a:latin typeface="Calibri"/>
              </a:rPr>
              <a:t>automatic metrics (BLEU/ROUGE/PINC), an LLM judge (GPT-OSS 20B, 1–3 scale), and 3 human annotators on 70 tweets.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000" y="13398283"/>
            <a:ext cx="9276000" cy="2026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120" b="1" i="0">
                <a:solidFill>
                  <a:srgbClr val="0B2A4A"/>
                </a:solidFill>
                <a:latin typeface="Calibri"/>
              </a:rPr>
              <a:t>Statistical Validation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000" y="13763090"/>
            <a:ext cx="9276000" cy="1928414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>
                <a:solidFill>
                  <a:srgbClr val="4EB39A"/>
                </a:solidFill>
                <a:latin typeface="Calibri"/>
              </a:rPr>
              <a:t>■  </a:t>
            </a:r>
            <a:r>
              <a:rPr b="1">
                <a:solidFill>
                  <a:srgbClr val="1A1A1A"/>
                </a:solidFill>
                <a:latin typeface="Calibri"/>
              </a:rPr>
              <a:t>Alt-Test: </a:t>
            </a:r>
            <a:r>
              <a:rPr>
                <a:solidFill>
                  <a:srgbClr val="1A1A1A"/>
                </a:solidFill>
                <a:latin typeface="Calibri"/>
              </a:rPr>
              <a:t>leave-one-annotator-out test (Calderon et al., 2025) – Winning Rate 0.67, Advantage Probability 0.77 at ε=0.2 → PASSED.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>
                <a:solidFill>
                  <a:srgbClr val="4EB39A"/>
                </a:solidFill>
                <a:latin typeface="Calibri"/>
              </a:rPr>
              <a:t>■  </a:t>
            </a:r>
            <a:r>
              <a:rPr b="1">
                <a:solidFill>
                  <a:srgbClr val="1A1A1A"/>
                </a:solidFill>
                <a:latin typeface="Calibri"/>
              </a:rPr>
              <a:t>Fleiss’ κ = 0.282: </a:t>
            </a:r>
            <a:r>
              <a:rPr>
                <a:solidFill>
                  <a:srgbClr val="1A1A1A"/>
                </a:solidFill>
                <a:latin typeface="Calibri"/>
              </a:rPr>
              <a:t>“fair agreement” among human annotators – sarcasm translation is subjective even for people.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00000" y="9864545"/>
            <a:ext cx="9276000" cy="2026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120" b="1" i="0">
                <a:solidFill>
                  <a:srgbClr val="0B2A4A"/>
                </a:solidFill>
                <a:latin typeface="Calibri"/>
              </a:rPr>
              <a:t>Evidence</a:t>
            </a:r>
          </a:p>
        </p:txBody>
      </p:sp>
      <p:pic>
        <p:nvPicPr>
          <p:cNvPr id="19" name="Picture 18" descr="1_model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00000" y="10229352"/>
            <a:ext cx="4530000" cy="2911012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20" name="TextBox 19"/>
          <p:cNvSpPr txBox="1"/>
          <p:nvPr/>
        </p:nvSpPr>
        <p:spPr>
          <a:xfrm>
            <a:off x="10500000" y="13160364"/>
            <a:ext cx="4530000" cy="18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9" b="0" i="1" dirty="0">
                <a:solidFill>
                  <a:srgbClr val="555555"/>
                </a:solidFill>
                <a:latin typeface="Calibri"/>
              </a:rPr>
              <a:t>Fig. 1 </a:t>
            </a:r>
            <a:r>
              <a:rPr lang="en-IL" sz="1309" b="0" i="1" dirty="0">
                <a:solidFill>
                  <a:srgbClr val="555555"/>
                </a:solidFill>
                <a:latin typeface="Calibri"/>
              </a:rPr>
              <a:t>-</a:t>
            </a:r>
            <a:r>
              <a:rPr sz="1309" b="0" i="1" dirty="0">
                <a:solidFill>
                  <a:srgbClr val="555555"/>
                </a:solidFill>
                <a:latin typeface="Calibri"/>
              </a:rPr>
              <a:t> Human vs. </a:t>
            </a:r>
            <a:r>
              <a:rPr sz="1309" b="0" i="1" dirty="0" err="1">
                <a:solidFill>
                  <a:srgbClr val="555555"/>
                </a:solidFill>
                <a:latin typeface="Calibri"/>
              </a:rPr>
              <a:t>LLMjudge</a:t>
            </a:r>
            <a:r>
              <a:rPr sz="1309" b="0" i="1" dirty="0">
                <a:solidFill>
                  <a:srgbClr val="555555"/>
                </a:solidFill>
                <a:latin typeface="Calibri"/>
              </a:rPr>
              <a:t> score, by model</a:t>
            </a:r>
          </a:p>
        </p:txBody>
      </p:sp>
      <p:pic>
        <p:nvPicPr>
          <p:cNvPr id="23" name="Picture 22" descr="4_confusion_matr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46000" y="10229352"/>
            <a:ext cx="4530000" cy="3410063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15246000" y="13659415"/>
            <a:ext cx="4530000" cy="34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9" b="0" i="1" dirty="0">
                <a:solidFill>
                  <a:srgbClr val="555555"/>
                </a:solidFill>
                <a:latin typeface="Calibri"/>
              </a:rPr>
              <a:t>Fig. 3 </a:t>
            </a:r>
            <a:r>
              <a:rPr lang="en-IL" sz="1309" b="0" i="1" dirty="0">
                <a:solidFill>
                  <a:srgbClr val="555555"/>
                </a:solidFill>
                <a:latin typeface="Calibri"/>
              </a:rPr>
              <a:t>-</a:t>
            </a:r>
            <a:r>
              <a:rPr sz="1309" b="0" i="1" dirty="0">
                <a:solidFill>
                  <a:srgbClr val="555555"/>
                </a:solidFill>
                <a:latin typeface="Calibri"/>
              </a:rPr>
              <a:t> Confusion matrix: human vs. </a:t>
            </a:r>
            <a:r>
              <a:rPr sz="1309" b="0" i="1" dirty="0" err="1">
                <a:solidFill>
                  <a:srgbClr val="555555"/>
                </a:solidFill>
                <a:latin typeface="Calibri"/>
              </a:rPr>
              <a:t>LLMjudge</a:t>
            </a:r>
            <a:r>
              <a:rPr sz="1309" b="0" i="1" dirty="0">
                <a:solidFill>
                  <a:srgbClr val="555555"/>
                </a:solidFill>
                <a:latin typeface="Calibri"/>
              </a:rPr>
              <a:t> score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352000" y="9864545"/>
            <a:ext cx="9276000" cy="2026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120" b="1" i="0">
                <a:solidFill>
                  <a:srgbClr val="0B2A4A"/>
                </a:solidFill>
                <a:latin typeface="Calibri"/>
              </a:rPr>
              <a:t>Key Results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352000" y="10229352"/>
            <a:ext cx="9276000" cy="2643293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>
                <a:solidFill>
                  <a:srgbClr val="4EB39A"/>
                </a:solidFill>
                <a:latin typeface="Calibri"/>
              </a:rPr>
              <a:t>■  </a:t>
            </a:r>
            <a:r>
              <a:rPr b="1">
                <a:solidFill>
                  <a:srgbClr val="1A1A1A"/>
                </a:solidFill>
                <a:latin typeface="Calibri"/>
              </a:rPr>
              <a:t>Best model: </a:t>
            </a:r>
            <a:r>
              <a:rPr>
                <a:solidFill>
                  <a:srgbClr val="1A1A1A"/>
                </a:solidFill>
                <a:latin typeface="Calibri"/>
              </a:rPr>
              <a:t>Nvidia led human-rated quality (~2.25/3), Gemini close second, Liquid a distant last (~1.3).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>
                <a:solidFill>
                  <a:srgbClr val="4EB39A"/>
                </a:solidFill>
                <a:latin typeface="Calibri"/>
              </a:rPr>
              <a:t>■  </a:t>
            </a:r>
            <a:r>
              <a:rPr b="1">
                <a:solidFill>
                  <a:srgbClr val="1A1A1A"/>
                </a:solidFill>
                <a:latin typeface="Calibri"/>
              </a:rPr>
              <a:t>Rewriting strategies: </a:t>
            </a:r>
            <a:r>
              <a:rPr>
                <a:solidFill>
                  <a:srgbClr val="1A1A1A"/>
                </a:solidFill>
                <a:latin typeface="Calibri"/>
              </a:rPr>
              <a:t>Gemini = explanatory expansion; Nvidia = stable precision; Liquid = unstable reduction (near-zero source overlap).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>
                <a:solidFill>
                  <a:srgbClr val="4EB39A"/>
                </a:solidFill>
                <a:latin typeface="Calibri"/>
              </a:rPr>
              <a:t>■  </a:t>
            </a:r>
            <a:r>
              <a:rPr b="1">
                <a:solidFill>
                  <a:srgbClr val="1A1A1A"/>
                </a:solidFill>
                <a:latin typeface="Calibri"/>
              </a:rPr>
              <a:t>Judge vs. human: </a:t>
            </a:r>
            <a:r>
              <a:rPr>
                <a:solidFill>
                  <a:srgbClr val="1A1A1A"/>
                </a:solidFill>
                <a:latin typeface="Calibri"/>
              </a:rPr>
              <a:t>67.1% agreement on outright failures down to 31.4% on nuanced quality – semantic rigidity &amp; fluency bias found.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352000" y="13115849"/>
            <a:ext cx="9276000" cy="2026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120" b="1" i="0">
                <a:solidFill>
                  <a:srgbClr val="0B2A4A"/>
                </a:solidFill>
                <a:latin typeface="Calibri"/>
              </a:rPr>
              <a:t>Conclusion → Pivot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352000" y="13480656"/>
            <a:ext cx="9276000" cy="98121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683" b="0" i="0" dirty="0">
                <a:solidFill>
                  <a:srgbClr val="1A1A1A"/>
                </a:solidFill>
                <a:latin typeface="Calibri"/>
              </a:rPr>
              <a:t>The recurring failure was models not recognizing sarcasm in the first place – no rewriting-prompt fix helps a misread input. This motivated Part II: treat detection as its own rigorously-compared problem.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16218447"/>
            <a:ext cx="30276000" cy="569857"/>
          </a:xfrm>
          <a:prstGeom prst="rect">
            <a:avLst/>
          </a:prstGeom>
          <a:solidFill>
            <a:srgbClr val="0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648000" y="16296155"/>
            <a:ext cx="28980000" cy="41444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820" b="1" i="0" dirty="0">
                <a:solidFill>
                  <a:srgbClr val="FFFFFF"/>
                </a:solidFill>
                <a:latin typeface="Calibri"/>
              </a:rPr>
              <a:t>PART II </a:t>
            </a:r>
            <a:r>
              <a:rPr lang="en-IL" sz="2820" b="1" i="0" dirty="0">
                <a:solidFill>
                  <a:srgbClr val="FFFFFF"/>
                </a:solidFill>
                <a:latin typeface="Calibri"/>
              </a:rPr>
              <a:t>-</a:t>
            </a:r>
            <a:r>
              <a:rPr sz="2820" b="1" i="0" dirty="0">
                <a:solidFill>
                  <a:srgbClr val="FFFFFF"/>
                </a:solidFill>
                <a:latin typeface="Calibri"/>
              </a:rPr>
              <a:t> SARCASM DETECTION: A SIXMETHOD COMPARISON</a:t>
            </a:r>
          </a:p>
        </p:txBody>
      </p:sp>
      <p:graphicFrame>
        <p:nvGraphicFramePr>
          <p:cNvPr id="33" name="Table 32"/>
          <p:cNvGraphicFramePr>
            <a:graphicFrameLocks noGrp="1"/>
          </p:cNvGraphicFramePr>
          <p:nvPr/>
        </p:nvGraphicFramePr>
        <p:xfrm>
          <a:off x="648000" y="16995524"/>
          <a:ext cx="28979998" cy="24607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131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06578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010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51535">
                <a:tc>
                  <a:txBody>
                    <a:bodyPr/>
                    <a:lstStyle/>
                    <a:p>
                      <a:pPr algn="l"/>
                      <a:r>
                        <a:rPr sz="2044" b="1" dirty="0">
                          <a:solidFill>
                            <a:srgbClr val="FFFFFF"/>
                          </a:solidFill>
                        </a:rPr>
                        <a:t>ID</a:t>
                      </a:r>
                    </a:p>
                  </a:txBody>
                  <a:tcPr marL="72000" marR="72000" marT="43200" marB="43200" anchor="ctr"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44" b="1">
                          <a:solidFill>
                            <a:srgbClr val="FFFFFF"/>
                          </a:solidFill>
                        </a:rPr>
                        <a:t>Approach</a:t>
                      </a:r>
                    </a:p>
                  </a:txBody>
                  <a:tcPr marL="72000" marR="72000" marT="43200" marB="43200" anchor="ctr">
                    <a:solidFill>
                      <a:srgbClr val="0B2A4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44" b="1">
                          <a:solidFill>
                            <a:srgbClr val="FFFFFF"/>
                          </a:solidFill>
                        </a:rPr>
                        <a:t>TEST Macro F1</a:t>
                      </a:r>
                    </a:p>
                  </a:txBody>
                  <a:tcPr marL="72000" marR="72000" marT="43200" marB="43200" anchor="ctr">
                    <a:solidFill>
                      <a:srgbClr val="0B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1535">
                <a:tc>
                  <a:txBody>
                    <a:bodyPr/>
                    <a:lstStyle/>
                    <a:p>
                      <a:pPr algn="l"/>
                      <a:r>
                        <a:rPr sz="2044" b="0">
                          <a:solidFill>
                            <a:srgbClr val="1A1A1A"/>
                          </a:solidFill>
                        </a:rPr>
                        <a:t>M1</a:t>
                      </a:r>
                    </a:p>
                  </a:txBody>
                  <a:tcPr marL="72000" marR="72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44" b="0" dirty="0">
                          <a:solidFill>
                            <a:srgbClr val="1A1A1A"/>
                          </a:solidFill>
                        </a:rPr>
                        <a:t>TFIDF + Logistic Regression (classical baseline)</a:t>
                      </a:r>
                    </a:p>
                  </a:txBody>
                  <a:tcPr marL="72000" marR="72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44" b="0">
                          <a:solidFill>
                            <a:srgbClr val="1A1A1A"/>
                          </a:solidFill>
                        </a:rPr>
                        <a:t>0.7403</a:t>
                      </a:r>
                    </a:p>
                  </a:txBody>
                  <a:tcPr marL="72000" marR="72000" marT="36000" marB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1535">
                <a:tc>
                  <a:txBody>
                    <a:bodyPr/>
                    <a:lstStyle/>
                    <a:p>
                      <a:pPr algn="l"/>
                      <a:r>
                        <a:rPr sz="2044" b="0">
                          <a:solidFill>
                            <a:srgbClr val="1A1A1A"/>
                          </a:solidFill>
                        </a:rPr>
                        <a:t>M2</a:t>
                      </a:r>
                    </a:p>
                  </a:txBody>
                  <a:tcPr marL="72000" marR="72000" marT="36000" marB="36000"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44" b="0" dirty="0">
                          <a:solidFill>
                            <a:srgbClr val="1A1A1A"/>
                          </a:solidFill>
                        </a:rPr>
                        <a:t>Qwen34B </a:t>
                      </a:r>
                      <a:r>
                        <a:rPr sz="2044" b="0" dirty="0" err="1">
                          <a:solidFill>
                            <a:srgbClr val="1A1A1A"/>
                          </a:solidFill>
                        </a:rPr>
                        <a:t>zeroshot</a:t>
                      </a:r>
                      <a:r>
                        <a:rPr sz="2044" b="0" dirty="0">
                          <a:solidFill>
                            <a:srgbClr val="1A1A1A"/>
                          </a:solidFill>
                        </a:rPr>
                        <a:t> prompting</a:t>
                      </a:r>
                    </a:p>
                  </a:txBody>
                  <a:tcPr marL="72000" marR="72000" marT="36000" marB="36000"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44" b="0">
                          <a:solidFill>
                            <a:srgbClr val="1A1A1A"/>
                          </a:solidFill>
                        </a:rPr>
                        <a:t>0.6005</a:t>
                      </a:r>
                    </a:p>
                  </a:txBody>
                  <a:tcPr marL="72000" marR="72000" marT="36000" marB="36000" anchor="ctr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1535">
                <a:tc>
                  <a:txBody>
                    <a:bodyPr/>
                    <a:lstStyle/>
                    <a:p>
                      <a:pPr algn="l"/>
                      <a:r>
                        <a:rPr sz="2044" b="0">
                          <a:solidFill>
                            <a:srgbClr val="1A1A1A"/>
                          </a:solidFill>
                        </a:rPr>
                        <a:t>M3</a:t>
                      </a:r>
                    </a:p>
                  </a:txBody>
                  <a:tcPr marL="72000" marR="72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44" b="0" dirty="0">
                          <a:solidFill>
                            <a:srgbClr val="1A1A1A"/>
                          </a:solidFill>
                        </a:rPr>
                        <a:t>Qwen34B </a:t>
                      </a:r>
                      <a:r>
                        <a:rPr sz="2044" b="0" dirty="0" err="1">
                          <a:solidFill>
                            <a:srgbClr val="1A1A1A"/>
                          </a:solidFill>
                        </a:rPr>
                        <a:t>fewshot</a:t>
                      </a:r>
                      <a:r>
                        <a:rPr sz="2044" b="0" dirty="0">
                          <a:solidFill>
                            <a:srgbClr val="1A1A1A"/>
                          </a:solidFill>
                        </a:rPr>
                        <a:t> prompting (8 random demos)</a:t>
                      </a:r>
                    </a:p>
                  </a:txBody>
                  <a:tcPr marL="72000" marR="72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44" b="0">
                          <a:solidFill>
                            <a:srgbClr val="1A1A1A"/>
                          </a:solidFill>
                        </a:rPr>
                        <a:t>0.5947</a:t>
                      </a:r>
                    </a:p>
                  </a:txBody>
                  <a:tcPr marL="72000" marR="72000" marT="36000" marB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1535">
                <a:tc>
                  <a:txBody>
                    <a:bodyPr/>
                    <a:lstStyle/>
                    <a:p>
                      <a:pPr algn="l"/>
                      <a:r>
                        <a:rPr sz="2044" b="0">
                          <a:solidFill>
                            <a:srgbClr val="1A1A1A"/>
                          </a:solidFill>
                        </a:rPr>
                        <a:t>M4</a:t>
                      </a:r>
                    </a:p>
                  </a:txBody>
                  <a:tcPr marL="72000" marR="72000" marT="36000" marB="36000"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44" b="0" dirty="0">
                          <a:solidFill>
                            <a:srgbClr val="1A1A1A"/>
                          </a:solidFill>
                        </a:rPr>
                        <a:t>Qwen34B structured </a:t>
                      </a:r>
                      <a:r>
                        <a:rPr sz="2044" b="0" dirty="0" err="1">
                          <a:solidFill>
                            <a:srgbClr val="1A1A1A"/>
                          </a:solidFill>
                        </a:rPr>
                        <a:t>stepbystep</a:t>
                      </a:r>
                      <a:r>
                        <a:rPr sz="2044" b="0" dirty="0">
                          <a:solidFill>
                            <a:srgbClr val="1A1A1A"/>
                          </a:solidFill>
                        </a:rPr>
                        <a:t> reasoning</a:t>
                      </a:r>
                    </a:p>
                  </a:txBody>
                  <a:tcPr marL="72000" marR="72000" marT="36000" marB="36000" anchor="ctr">
                    <a:solidFill>
                      <a:srgbClr val="F4F6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44" b="0">
                          <a:solidFill>
                            <a:srgbClr val="1A1A1A"/>
                          </a:solidFill>
                        </a:rPr>
                        <a:t>0.5758</a:t>
                      </a:r>
                    </a:p>
                  </a:txBody>
                  <a:tcPr marL="72000" marR="72000" marT="36000" marB="36000" anchor="ctr">
                    <a:solidFill>
                      <a:srgbClr val="F4F6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1535">
                <a:tc>
                  <a:txBody>
                    <a:bodyPr/>
                    <a:lstStyle/>
                    <a:p>
                      <a:pPr algn="l"/>
                      <a:r>
                        <a:rPr sz="2044" b="0">
                          <a:solidFill>
                            <a:srgbClr val="1A1A1A"/>
                          </a:solidFill>
                        </a:rPr>
                        <a:t>M5</a:t>
                      </a:r>
                    </a:p>
                  </a:txBody>
                  <a:tcPr marL="72000" marR="72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44" b="0" dirty="0" err="1">
                          <a:solidFill>
                            <a:srgbClr val="1A1A1A"/>
                          </a:solidFill>
                        </a:rPr>
                        <a:t>DSPy</a:t>
                      </a:r>
                      <a:r>
                        <a:rPr sz="2044" b="0" dirty="0">
                          <a:solidFill>
                            <a:srgbClr val="1A1A1A"/>
                          </a:solidFill>
                        </a:rPr>
                        <a:t> MIPROv2 </a:t>
                      </a:r>
                      <a:r>
                        <a:rPr lang="en-IL" sz="2044" b="0" dirty="0">
                          <a:solidFill>
                            <a:srgbClr val="1A1A1A"/>
                          </a:solidFill>
                        </a:rPr>
                        <a:t>-</a:t>
                      </a:r>
                      <a:r>
                        <a:rPr sz="2044" b="0" dirty="0">
                          <a:solidFill>
                            <a:srgbClr val="1A1A1A"/>
                          </a:solidFill>
                        </a:rPr>
                        <a:t> optimized prompt + demos</a:t>
                      </a:r>
                    </a:p>
                  </a:txBody>
                  <a:tcPr marL="72000" marR="72000" marT="36000" marB="36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44" b="0">
                          <a:solidFill>
                            <a:srgbClr val="1A1A1A"/>
                          </a:solidFill>
                        </a:rPr>
                        <a:t>0.6681</a:t>
                      </a:r>
                    </a:p>
                  </a:txBody>
                  <a:tcPr marL="72000" marR="72000" marT="36000" marB="36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1537">
                <a:tc>
                  <a:txBody>
                    <a:bodyPr/>
                    <a:lstStyle/>
                    <a:p>
                      <a:pPr algn="l"/>
                      <a:r>
                        <a:rPr sz="2044" b="1">
                          <a:solidFill>
                            <a:srgbClr val="0B2A4A"/>
                          </a:solidFill>
                        </a:rPr>
                        <a:t>M6</a:t>
                      </a:r>
                    </a:p>
                  </a:txBody>
                  <a:tcPr marL="72000" marR="72000" marT="36000" marB="36000" anchor="ctr">
                    <a:solidFill>
                      <a:srgbClr val="EAF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44" b="1" dirty="0">
                          <a:solidFill>
                            <a:srgbClr val="0B2A4A"/>
                          </a:solidFill>
                        </a:rPr>
                        <a:t>Finetuned </a:t>
                      </a:r>
                      <a:r>
                        <a:rPr sz="2044" b="1" dirty="0" err="1">
                          <a:solidFill>
                            <a:srgbClr val="0B2A4A"/>
                          </a:solidFill>
                        </a:rPr>
                        <a:t>microsoft</a:t>
                      </a:r>
                      <a:r>
                        <a:rPr sz="2044" b="1" dirty="0">
                          <a:solidFill>
                            <a:srgbClr val="0B2A4A"/>
                          </a:solidFill>
                        </a:rPr>
                        <a:t>/debertav3base</a:t>
                      </a:r>
                    </a:p>
                  </a:txBody>
                  <a:tcPr marL="72000" marR="72000" marT="36000" marB="36000" anchor="ctr">
                    <a:solidFill>
                      <a:srgbClr val="EAF6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44" b="1">
                          <a:solidFill>
                            <a:srgbClr val="0B2A4A"/>
                          </a:solidFill>
                        </a:rPr>
                        <a:t>0.8209</a:t>
                      </a:r>
                    </a:p>
                  </a:txBody>
                  <a:tcPr marL="72000" marR="72000" marT="36000" marB="36000" anchor="ctr">
                    <a:solidFill>
                      <a:srgbClr val="EAF6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648000" y="19974321"/>
            <a:ext cx="9276000" cy="2590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397" b="1" i="0">
                <a:solidFill>
                  <a:srgbClr val="0B2A4A"/>
                </a:solidFill>
                <a:latin typeface="Calibri"/>
              </a:rPr>
              <a:t>Dataset &amp; Setup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8000" y="20440568"/>
            <a:ext cx="9276000" cy="4291961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903" dirty="0">
                <a:solidFill>
                  <a:srgbClr val="4EB39A"/>
                </a:solidFill>
                <a:latin typeface="Calibri"/>
              </a:rPr>
              <a:t>■  </a:t>
            </a:r>
            <a:r>
              <a:rPr sz="1903" b="1" dirty="0">
                <a:solidFill>
                  <a:srgbClr val="1A1A1A"/>
                </a:solidFill>
                <a:latin typeface="Calibri"/>
              </a:rPr>
              <a:t>Dataset: </a:t>
            </a:r>
            <a:r>
              <a:rPr sz="1903" dirty="0">
                <a:solidFill>
                  <a:srgbClr val="1A1A1A"/>
                </a:solidFill>
                <a:latin typeface="Calibri"/>
              </a:rPr>
              <a:t>Sarcasm Corpus V2 (</a:t>
            </a:r>
            <a:r>
              <a:rPr sz="1903" dirty="0" err="1">
                <a:solidFill>
                  <a:srgbClr val="1A1A1A"/>
                </a:solidFill>
                <a:latin typeface="Calibri"/>
              </a:rPr>
              <a:t>Oraby</a:t>
            </a:r>
            <a:r>
              <a:rPr sz="1903" dirty="0">
                <a:solidFill>
                  <a:srgbClr val="1A1A1A"/>
                </a:solidFill>
                <a:latin typeface="Calibri"/>
              </a:rPr>
              <a:t> et al., 2016) </a:t>
            </a:r>
            <a:r>
              <a:rPr lang="en-IL" sz="1903" dirty="0">
                <a:solidFill>
                  <a:srgbClr val="1A1A1A"/>
                </a:solidFill>
                <a:latin typeface="Calibri"/>
              </a:rPr>
              <a:t>-</a:t>
            </a:r>
            <a:r>
              <a:rPr sz="1903" dirty="0">
                <a:solidFill>
                  <a:srgbClr val="1A1A1A"/>
                </a:solidFill>
                <a:latin typeface="Calibri"/>
              </a:rPr>
              <a:t> 9,386 </a:t>
            </a:r>
            <a:r>
              <a:rPr sz="1903" dirty="0" err="1">
                <a:solidFill>
                  <a:srgbClr val="1A1A1A"/>
                </a:solidFill>
                <a:latin typeface="Calibri"/>
              </a:rPr>
              <a:t>humanannotated</a:t>
            </a:r>
            <a:r>
              <a:rPr sz="1903" dirty="0">
                <a:solidFill>
                  <a:srgbClr val="1A1A1A"/>
                </a:solidFill>
                <a:latin typeface="Calibri"/>
              </a:rPr>
              <a:t> forum posts, ~50/50 balanced, 3 overlapping categories (GEN/HYP/RQ).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903" dirty="0">
                <a:solidFill>
                  <a:srgbClr val="4EB39A"/>
                </a:solidFill>
                <a:latin typeface="Calibri"/>
              </a:rPr>
              <a:t>■  </a:t>
            </a:r>
            <a:r>
              <a:rPr sz="1903" b="1" dirty="0">
                <a:solidFill>
                  <a:srgbClr val="1A1A1A"/>
                </a:solidFill>
                <a:latin typeface="Calibri"/>
              </a:rPr>
              <a:t>Split: </a:t>
            </a:r>
            <a:r>
              <a:rPr sz="1903" dirty="0">
                <a:solidFill>
                  <a:srgbClr val="1A1A1A"/>
                </a:solidFill>
                <a:latin typeface="Calibri"/>
              </a:rPr>
              <a:t>one canonical 70/15/15 TRAIN/DEV/TEST split (seed 42) </a:t>
            </a:r>
            <a:r>
              <a:rPr lang="en-IL" sz="1903" dirty="0">
                <a:solidFill>
                  <a:srgbClr val="1A1A1A"/>
                </a:solidFill>
                <a:latin typeface="Calibri"/>
              </a:rPr>
              <a:t>-</a:t>
            </a:r>
            <a:r>
              <a:rPr sz="1903" dirty="0">
                <a:solidFill>
                  <a:srgbClr val="1A1A1A"/>
                </a:solidFill>
                <a:latin typeface="Calibri"/>
              </a:rPr>
              <a:t> grouped by duplicate text (the only leakage vector) + stratified by label.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903" dirty="0">
                <a:solidFill>
                  <a:srgbClr val="4EB39A"/>
                </a:solidFill>
                <a:latin typeface="Calibri"/>
              </a:rPr>
              <a:t>■  </a:t>
            </a:r>
            <a:r>
              <a:rPr sz="1903" b="1" dirty="0">
                <a:solidFill>
                  <a:srgbClr val="1A1A1A"/>
                </a:solidFill>
                <a:latin typeface="Calibri"/>
              </a:rPr>
              <a:t>Sealing policy: </a:t>
            </a:r>
            <a:r>
              <a:rPr sz="1903" dirty="0">
                <a:solidFill>
                  <a:srgbClr val="1A1A1A"/>
                </a:solidFill>
                <a:latin typeface="Calibri"/>
              </a:rPr>
              <a:t>TEST evaluated exactly once per method, only after every configuration was fully frozen on DEV.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903" dirty="0">
                <a:solidFill>
                  <a:srgbClr val="4EB39A"/>
                </a:solidFill>
                <a:latin typeface="Calibri"/>
              </a:rPr>
              <a:t>■  </a:t>
            </a:r>
            <a:r>
              <a:rPr sz="1903" b="1" dirty="0">
                <a:solidFill>
                  <a:srgbClr val="1A1A1A"/>
                </a:solidFill>
                <a:latin typeface="Calibri"/>
              </a:rPr>
              <a:t>Shared evaluator: </a:t>
            </a:r>
            <a:r>
              <a:rPr sz="1903" dirty="0">
                <a:solidFill>
                  <a:srgbClr val="1A1A1A"/>
                </a:solidFill>
                <a:latin typeface="Calibri"/>
              </a:rPr>
              <a:t>one implementation of Accuracy / </a:t>
            </a:r>
            <a:r>
              <a:rPr sz="1903" dirty="0" err="1">
                <a:solidFill>
                  <a:srgbClr val="1A1A1A"/>
                </a:solidFill>
                <a:latin typeface="Calibri"/>
              </a:rPr>
              <a:t>perclass</a:t>
            </a:r>
            <a:r>
              <a:rPr sz="1903" dirty="0">
                <a:solidFill>
                  <a:srgbClr val="1A1A1A"/>
                </a:solidFill>
                <a:latin typeface="Calibri"/>
              </a:rPr>
              <a:t> PRF1 / Macro F1 / confusion matrix used identically by all six methods.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903" dirty="0">
                <a:solidFill>
                  <a:srgbClr val="4EB39A"/>
                </a:solidFill>
                <a:latin typeface="Calibri"/>
              </a:rPr>
              <a:t>■  </a:t>
            </a:r>
            <a:r>
              <a:rPr sz="1903" b="1" dirty="0">
                <a:solidFill>
                  <a:srgbClr val="1A1A1A"/>
                </a:solidFill>
                <a:latin typeface="Calibri"/>
              </a:rPr>
              <a:t>Base LLM fixed: </a:t>
            </a:r>
            <a:r>
              <a:rPr sz="1903" dirty="0">
                <a:solidFill>
                  <a:srgbClr val="1A1A1A"/>
                </a:solidFill>
                <a:latin typeface="Calibri"/>
              </a:rPr>
              <a:t>M2–M5 all run the same local Qwen34BInstruct2507, isolating prompting technique from </a:t>
            </a:r>
            <a:r>
              <a:rPr sz="1903" dirty="0" err="1">
                <a:solidFill>
                  <a:srgbClr val="1A1A1A"/>
                </a:solidFill>
                <a:latin typeface="Calibri"/>
              </a:rPr>
              <a:t>basemodel</a:t>
            </a:r>
            <a:r>
              <a:rPr sz="1903" dirty="0">
                <a:solidFill>
                  <a:srgbClr val="1A1A1A"/>
                </a:solidFill>
                <a:latin typeface="Calibri"/>
              </a:rPr>
              <a:t> capability.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500000" y="19974321"/>
            <a:ext cx="9276000" cy="2590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397" b="1" i="0">
                <a:solidFill>
                  <a:srgbClr val="0B2A4A"/>
                </a:solidFill>
                <a:latin typeface="Calibri"/>
              </a:rPr>
              <a:t>Evidence</a:t>
            </a:r>
          </a:p>
        </p:txBody>
      </p:sp>
      <p:pic>
        <p:nvPicPr>
          <p:cNvPr id="37" name="Picture 36" descr="macro_f1_comparis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00000" y="20440568"/>
            <a:ext cx="4530000" cy="2160479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38" name="TextBox 37"/>
          <p:cNvSpPr txBox="1"/>
          <p:nvPr/>
        </p:nvSpPr>
        <p:spPr>
          <a:xfrm>
            <a:off x="10500000" y="22678755"/>
            <a:ext cx="4530000" cy="4363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80" b="0" i="1" dirty="0">
                <a:solidFill>
                  <a:srgbClr val="555555"/>
                </a:solidFill>
                <a:latin typeface="Calibri"/>
              </a:rPr>
              <a:t>Fig. 5 </a:t>
            </a:r>
            <a:r>
              <a:rPr lang="en-IL" sz="1480" b="0" i="1" dirty="0">
                <a:solidFill>
                  <a:srgbClr val="555555"/>
                </a:solidFill>
                <a:latin typeface="Calibri"/>
              </a:rPr>
              <a:t>-</a:t>
            </a:r>
            <a:r>
              <a:rPr sz="1480" b="0" i="1" dirty="0">
                <a:solidFill>
                  <a:srgbClr val="555555"/>
                </a:solidFill>
                <a:latin typeface="Calibri"/>
              </a:rPr>
              <a:t> Macro F1 by method, DEV vs. sealed TEST</a:t>
            </a:r>
          </a:p>
        </p:txBody>
      </p:sp>
      <p:pic>
        <p:nvPicPr>
          <p:cNvPr id="39" name="Picture 38" descr="per_class_f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246000" y="20440568"/>
            <a:ext cx="4530000" cy="2160479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40" name="TextBox 39"/>
          <p:cNvSpPr txBox="1"/>
          <p:nvPr/>
        </p:nvSpPr>
        <p:spPr>
          <a:xfrm>
            <a:off x="15246000" y="22678755"/>
            <a:ext cx="4530000" cy="4363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80" b="0" i="1" dirty="0">
                <a:solidFill>
                  <a:srgbClr val="555555"/>
                </a:solidFill>
                <a:latin typeface="Calibri"/>
              </a:rPr>
              <a:t>Fig. 6 </a:t>
            </a:r>
            <a:r>
              <a:rPr lang="en-IL" sz="1480" b="0" i="1" dirty="0">
                <a:solidFill>
                  <a:srgbClr val="555555"/>
                </a:solidFill>
                <a:latin typeface="Calibri"/>
              </a:rPr>
              <a:t>-</a:t>
            </a:r>
            <a:r>
              <a:rPr sz="1480" b="0" i="1" dirty="0">
                <a:solidFill>
                  <a:srgbClr val="555555"/>
                </a:solidFill>
                <a:latin typeface="Calibri"/>
              </a:rPr>
              <a:t> Perclass F1 </a:t>
            </a:r>
            <a:r>
              <a:rPr lang="en-IL" sz="1480" b="0" i="1" dirty="0">
                <a:solidFill>
                  <a:srgbClr val="555555"/>
                </a:solidFill>
                <a:latin typeface="Calibri"/>
              </a:rPr>
              <a:t>-</a:t>
            </a:r>
            <a:r>
              <a:rPr sz="1480" b="0" i="1" dirty="0">
                <a:solidFill>
                  <a:srgbClr val="555555"/>
                </a:solidFill>
                <a:latin typeface="Calibri"/>
              </a:rPr>
              <a:t> the </a:t>
            </a:r>
            <a:r>
              <a:rPr sz="1480" b="0" i="1" dirty="0" err="1">
                <a:solidFill>
                  <a:srgbClr val="555555"/>
                </a:solidFill>
                <a:latin typeface="Calibri"/>
              </a:rPr>
              <a:t>sarcasticoverprediction</a:t>
            </a:r>
            <a:r>
              <a:rPr sz="1480" b="0" i="1" dirty="0">
                <a:solidFill>
                  <a:srgbClr val="555555"/>
                </a:solidFill>
                <a:latin typeface="Calibri"/>
              </a:rPr>
              <a:t> bias</a:t>
            </a:r>
          </a:p>
        </p:txBody>
      </p:sp>
      <p:pic>
        <p:nvPicPr>
          <p:cNvPr id="41" name="Picture 40" descr="cross_model_agreemen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00000" y="23455832"/>
            <a:ext cx="4530000" cy="2691057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42" name="TextBox 41"/>
          <p:cNvSpPr txBox="1"/>
          <p:nvPr/>
        </p:nvSpPr>
        <p:spPr>
          <a:xfrm>
            <a:off x="10500000" y="26224596"/>
            <a:ext cx="4530000" cy="4363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80" b="0" i="1" dirty="0">
                <a:solidFill>
                  <a:srgbClr val="555555"/>
                </a:solidFill>
                <a:latin typeface="Calibri"/>
              </a:rPr>
              <a:t>Fig. 7 </a:t>
            </a:r>
            <a:r>
              <a:rPr lang="en-IL" sz="1480" b="0" i="1" dirty="0">
                <a:solidFill>
                  <a:srgbClr val="555555"/>
                </a:solidFill>
                <a:latin typeface="Calibri"/>
              </a:rPr>
              <a:t>-</a:t>
            </a:r>
            <a:r>
              <a:rPr sz="1480" b="0" i="1" dirty="0">
                <a:solidFill>
                  <a:srgbClr val="555555"/>
                </a:solidFill>
                <a:latin typeface="Calibri"/>
              </a:rPr>
              <a:t> Pairwise prediction agreement, all six methods</a:t>
            </a:r>
          </a:p>
        </p:txBody>
      </p:sp>
      <p:pic>
        <p:nvPicPr>
          <p:cNvPr id="43" name="Picture 42" descr="category_breakdown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5246000" y="23455832"/>
            <a:ext cx="4530000" cy="1503249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44" name="TextBox 43"/>
          <p:cNvSpPr txBox="1"/>
          <p:nvPr/>
        </p:nvSpPr>
        <p:spPr>
          <a:xfrm>
            <a:off x="15246000" y="25036789"/>
            <a:ext cx="4530000" cy="4363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80" b="0" i="1" dirty="0">
                <a:solidFill>
                  <a:srgbClr val="555555"/>
                </a:solidFill>
                <a:latin typeface="Calibri"/>
              </a:rPr>
              <a:t>Fig. 8 </a:t>
            </a:r>
            <a:r>
              <a:rPr lang="en-IL" sz="1480" b="0" i="1" dirty="0">
                <a:solidFill>
                  <a:srgbClr val="555555"/>
                </a:solidFill>
                <a:latin typeface="Calibri"/>
              </a:rPr>
              <a:t>-</a:t>
            </a:r>
            <a:r>
              <a:rPr sz="1480" b="0" i="1" dirty="0">
                <a:solidFill>
                  <a:srgbClr val="555555"/>
                </a:solidFill>
                <a:latin typeface="Calibri"/>
              </a:rPr>
              <a:t> Accuracy by category (GEN/HYP/RQ), all six methods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0352000" y="19974321"/>
            <a:ext cx="9276000" cy="2590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397" b="1" i="0">
                <a:solidFill>
                  <a:srgbClr val="0B2A4A"/>
                </a:solidFill>
                <a:latin typeface="Calibri"/>
              </a:rPr>
              <a:t>Key Results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0352000" y="20440568"/>
            <a:ext cx="9276000" cy="4291961"/>
          </a:xfrm>
          <a:prstGeom prst="rect">
            <a:avLst/>
          </a:prstGeom>
          <a:noFill/>
        </p:spPr>
        <p:txBody>
          <a:bodyPr wrap="square" lIns="0" tIns="0" rIns="0" bIns="0"/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903" dirty="0">
                <a:solidFill>
                  <a:srgbClr val="4EB39A"/>
                </a:solidFill>
                <a:latin typeface="Calibri"/>
              </a:rPr>
              <a:t>■  </a:t>
            </a:r>
            <a:r>
              <a:rPr sz="1903" b="1" dirty="0">
                <a:solidFill>
                  <a:srgbClr val="1A1A1A"/>
                </a:solidFill>
                <a:latin typeface="Calibri"/>
              </a:rPr>
              <a:t>Winner </a:t>
            </a:r>
            <a:r>
              <a:rPr lang="en-IL" sz="1903" b="1" dirty="0">
                <a:solidFill>
                  <a:srgbClr val="1A1A1A"/>
                </a:solidFill>
                <a:latin typeface="Calibri"/>
              </a:rPr>
              <a:t>-</a:t>
            </a:r>
            <a:r>
              <a:rPr sz="1903" b="1" dirty="0">
                <a:solidFill>
                  <a:srgbClr val="1A1A1A"/>
                </a:solidFill>
                <a:latin typeface="Calibri"/>
              </a:rPr>
              <a:t> M6 (finetuned </a:t>
            </a:r>
            <a:r>
              <a:rPr sz="1903" b="1" dirty="0" err="1">
                <a:solidFill>
                  <a:srgbClr val="1A1A1A"/>
                </a:solidFill>
                <a:latin typeface="Calibri"/>
              </a:rPr>
              <a:t>DeBERTa</a:t>
            </a:r>
            <a:r>
              <a:rPr sz="1903" b="1" dirty="0">
                <a:solidFill>
                  <a:srgbClr val="1A1A1A"/>
                </a:solidFill>
                <a:latin typeface="Calibri"/>
              </a:rPr>
              <a:t>): </a:t>
            </a:r>
            <a:r>
              <a:rPr sz="1903" dirty="0">
                <a:solidFill>
                  <a:srgbClr val="1A1A1A"/>
                </a:solidFill>
                <a:latin typeface="Calibri"/>
              </a:rPr>
              <a:t>0.8209 Macro F1 </a:t>
            </a:r>
            <a:r>
              <a:rPr lang="en-IL" sz="1903" dirty="0">
                <a:solidFill>
                  <a:srgbClr val="1A1A1A"/>
                </a:solidFill>
                <a:latin typeface="Calibri"/>
              </a:rPr>
              <a:t>-</a:t>
            </a:r>
            <a:r>
              <a:rPr sz="1903" dirty="0">
                <a:solidFill>
                  <a:srgbClr val="1A1A1A"/>
                </a:solidFill>
                <a:latin typeface="Calibri"/>
              </a:rPr>
              <a:t> 15–25 points over every </a:t>
            </a:r>
            <a:r>
              <a:rPr sz="1903" dirty="0" err="1">
                <a:solidFill>
                  <a:srgbClr val="1A1A1A"/>
                </a:solidFill>
                <a:latin typeface="Calibri"/>
              </a:rPr>
              <a:t>promptedLLM</a:t>
            </a:r>
            <a:r>
              <a:rPr sz="1903" dirty="0">
                <a:solidFill>
                  <a:srgbClr val="1A1A1A"/>
                </a:solidFill>
                <a:latin typeface="Calibri"/>
              </a:rPr>
              <a:t> variant of the same base model, while running far faster &amp; cheaper.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903" dirty="0">
                <a:solidFill>
                  <a:srgbClr val="4EB39A"/>
                </a:solidFill>
                <a:latin typeface="Calibri"/>
              </a:rPr>
              <a:t>■  </a:t>
            </a:r>
            <a:r>
              <a:rPr sz="1903" b="1" dirty="0">
                <a:solidFill>
                  <a:srgbClr val="1A1A1A"/>
                </a:solidFill>
                <a:latin typeface="Calibri"/>
              </a:rPr>
              <a:t>More prompting ≠ better: </a:t>
            </a:r>
            <a:r>
              <a:rPr sz="1903" dirty="0">
                <a:solidFill>
                  <a:srgbClr val="1A1A1A"/>
                </a:solidFill>
                <a:latin typeface="Calibri"/>
              </a:rPr>
              <a:t>plain </a:t>
            </a:r>
            <a:r>
              <a:rPr sz="1903" dirty="0" err="1">
                <a:solidFill>
                  <a:srgbClr val="1A1A1A"/>
                </a:solidFill>
                <a:latin typeface="Calibri"/>
              </a:rPr>
              <a:t>zeroshot</a:t>
            </a:r>
            <a:r>
              <a:rPr sz="1903" dirty="0">
                <a:solidFill>
                  <a:srgbClr val="1A1A1A"/>
                </a:solidFill>
                <a:latin typeface="Calibri"/>
              </a:rPr>
              <a:t> beat both </a:t>
            </a:r>
            <a:r>
              <a:rPr sz="1903" dirty="0" err="1">
                <a:solidFill>
                  <a:srgbClr val="1A1A1A"/>
                </a:solidFill>
                <a:latin typeface="Calibri"/>
              </a:rPr>
              <a:t>fewshot</a:t>
            </a:r>
            <a:r>
              <a:rPr sz="1903" dirty="0">
                <a:solidFill>
                  <a:srgbClr val="1A1A1A"/>
                </a:solidFill>
                <a:latin typeface="Calibri"/>
              </a:rPr>
              <a:t> and structured reasoning; only </a:t>
            </a:r>
            <a:r>
              <a:rPr sz="1903" dirty="0" err="1">
                <a:solidFill>
                  <a:srgbClr val="1A1A1A"/>
                </a:solidFill>
                <a:latin typeface="Calibri"/>
              </a:rPr>
              <a:t>DSPy's</a:t>
            </a:r>
            <a:r>
              <a:rPr sz="1903" dirty="0">
                <a:solidFill>
                  <a:srgbClr val="1A1A1A"/>
                </a:solidFill>
                <a:latin typeface="Calibri"/>
              </a:rPr>
              <a:t> automated MIPROv2 search improved on it.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903" dirty="0">
                <a:solidFill>
                  <a:srgbClr val="4EB39A"/>
                </a:solidFill>
                <a:latin typeface="Calibri"/>
              </a:rPr>
              <a:t>■  </a:t>
            </a:r>
            <a:r>
              <a:rPr sz="1903" b="1" dirty="0">
                <a:solidFill>
                  <a:srgbClr val="1A1A1A"/>
                </a:solidFill>
                <a:latin typeface="Calibri"/>
              </a:rPr>
              <a:t>Universal LLM bias: </a:t>
            </a:r>
            <a:r>
              <a:rPr sz="1903" dirty="0">
                <a:solidFill>
                  <a:srgbClr val="1A1A1A"/>
                </a:solidFill>
                <a:latin typeface="Calibri"/>
              </a:rPr>
              <a:t>every prompted method overpredicts “sarcastic” </a:t>
            </a:r>
            <a:r>
              <a:rPr lang="en-IL" sz="1903" dirty="0">
                <a:solidFill>
                  <a:srgbClr val="1A1A1A"/>
                </a:solidFill>
                <a:latin typeface="Calibri"/>
              </a:rPr>
              <a:t>-</a:t>
            </a:r>
            <a:r>
              <a:rPr sz="1903" dirty="0">
                <a:solidFill>
                  <a:srgbClr val="1A1A1A"/>
                </a:solidFill>
                <a:latin typeface="Calibri"/>
              </a:rPr>
              <a:t> 94–97% sarcastic recall vs. only 28–44% </a:t>
            </a:r>
            <a:r>
              <a:rPr sz="1903" dirty="0" err="1">
                <a:solidFill>
                  <a:srgbClr val="1A1A1A"/>
                </a:solidFill>
                <a:latin typeface="Calibri"/>
              </a:rPr>
              <a:t>notsarcastic</a:t>
            </a:r>
            <a:r>
              <a:rPr sz="1903" dirty="0">
                <a:solidFill>
                  <a:srgbClr val="1A1A1A"/>
                </a:solidFill>
                <a:latin typeface="Calibri"/>
              </a:rPr>
              <a:t> recall.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903" dirty="0">
                <a:solidFill>
                  <a:srgbClr val="4EB39A"/>
                </a:solidFill>
                <a:latin typeface="Calibri"/>
              </a:rPr>
              <a:t>■  </a:t>
            </a:r>
            <a:r>
              <a:rPr sz="1903" b="1" dirty="0">
                <a:solidFill>
                  <a:srgbClr val="1A1A1A"/>
                </a:solidFill>
                <a:latin typeface="Calibri"/>
              </a:rPr>
              <a:t>Two clear families: </a:t>
            </a:r>
            <a:r>
              <a:rPr sz="1903" dirty="0">
                <a:solidFill>
                  <a:srgbClr val="1A1A1A"/>
                </a:solidFill>
                <a:latin typeface="Calibri"/>
              </a:rPr>
              <a:t>the 4 LLM methods agree with each other 88–95% of the time; M1+M6 (trained methods) agree with each other 81% </a:t>
            </a:r>
            <a:r>
              <a:rPr lang="en-IL" sz="1903" dirty="0">
                <a:solidFill>
                  <a:srgbClr val="1A1A1A"/>
                </a:solidFill>
                <a:latin typeface="Calibri"/>
              </a:rPr>
              <a:t>-</a:t>
            </a:r>
            <a:r>
              <a:rPr sz="1903" dirty="0">
                <a:solidFill>
                  <a:srgbClr val="1A1A1A"/>
                </a:solidFill>
                <a:latin typeface="Calibri"/>
              </a:rPr>
              <a:t> but only 62–71% with the LLM family.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903" dirty="0">
                <a:solidFill>
                  <a:srgbClr val="4EB39A"/>
                </a:solidFill>
                <a:latin typeface="Calibri"/>
              </a:rPr>
              <a:t>■  </a:t>
            </a:r>
            <a:r>
              <a:rPr sz="1903" b="1" dirty="0">
                <a:solidFill>
                  <a:srgbClr val="1A1A1A"/>
                </a:solidFill>
                <a:latin typeface="Calibri"/>
              </a:rPr>
              <a:t>Hardest cases: </a:t>
            </a:r>
            <a:r>
              <a:rPr sz="1903" dirty="0">
                <a:solidFill>
                  <a:srgbClr val="1A1A1A"/>
                </a:solidFill>
                <a:latin typeface="Calibri"/>
              </a:rPr>
              <a:t>89/1,340 TEST examples (6.6%) are misclassified by every one of the 6 methods, including the winner.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0352000" y="25043360"/>
            <a:ext cx="9276000" cy="25902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397" b="1" i="0">
                <a:solidFill>
                  <a:srgbClr val="0B2A4A"/>
                </a:solidFill>
                <a:latin typeface="Calibri"/>
              </a:rPr>
              <a:t>Recommendation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0352000" y="25509606"/>
            <a:ext cx="9276000" cy="934981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1903" b="0" i="0" dirty="0">
                <a:solidFill>
                  <a:srgbClr val="1A1A1A"/>
                </a:solidFill>
                <a:latin typeface="Calibri"/>
              </a:rPr>
              <a:t>M6 for production </a:t>
            </a:r>
            <a:r>
              <a:rPr lang="en-IL" sz="1903" b="0" i="0" dirty="0">
                <a:solidFill>
                  <a:srgbClr val="1A1A1A"/>
                </a:solidFill>
                <a:latin typeface="Calibri"/>
              </a:rPr>
              <a:t>-</a:t>
            </a:r>
            <a:r>
              <a:rPr sz="1903" b="0" i="0" dirty="0">
                <a:solidFill>
                  <a:srgbClr val="1A1A1A"/>
                </a:solidFill>
                <a:latin typeface="Calibri"/>
              </a:rPr>
              <a:t> best accuracy, most balanced predictor, and dramatically cheaper/faster than any prompted LLM. M1 (TFIDF + LR) as a </a:t>
            </a:r>
            <a:r>
              <a:rPr sz="1903" b="0" i="0" dirty="0" err="1">
                <a:solidFill>
                  <a:srgbClr val="1A1A1A"/>
                </a:solidFill>
                <a:latin typeface="Calibri"/>
              </a:rPr>
              <a:t>CPUonly</a:t>
            </a:r>
            <a:r>
              <a:rPr sz="1903" b="0" i="0" dirty="0">
                <a:solidFill>
                  <a:srgbClr val="1A1A1A"/>
                </a:solidFill>
                <a:latin typeface="Calibri"/>
              </a:rPr>
              <a:t> fallback at 0.74 Macro F1.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48000" y="37225788"/>
            <a:ext cx="28980000" cy="2232000"/>
          </a:xfrm>
          <a:prstGeom prst="rect">
            <a:avLst/>
          </a:prstGeom>
          <a:solidFill>
            <a:srgbClr val="4EB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457200" rtl="1" eaLnBrk="1" latinLnBrk="0" hangingPunct="1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1296000" y="37352424"/>
            <a:ext cx="4320000" cy="432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975" b="1" i="0" dirty="0">
                <a:solidFill>
                  <a:srgbClr val="FFFFFF"/>
                </a:solidFill>
                <a:latin typeface="Calibri"/>
              </a:rPr>
              <a:t>OVERALL CONCLUSION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296000" y="37811318"/>
            <a:ext cx="27684000" cy="157594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2800" b="0" i="0" dirty="0">
                <a:solidFill>
                  <a:srgbClr val="FFFFFF"/>
                </a:solidFill>
                <a:latin typeface="Calibri"/>
              </a:rPr>
              <a:t>Both phases point to the same lesson: for </a:t>
            </a:r>
            <a:r>
              <a:rPr sz="2800" b="0" i="0" dirty="0" err="1">
                <a:solidFill>
                  <a:srgbClr val="FFFFFF"/>
                </a:solidFill>
                <a:latin typeface="Calibri"/>
              </a:rPr>
              <a:t>sarcastictext</a:t>
            </a:r>
            <a:r>
              <a:rPr sz="2800" b="0" i="0" dirty="0">
                <a:solidFill>
                  <a:srgbClr val="FFFFFF"/>
                </a:solidFill>
                <a:latin typeface="Calibri"/>
              </a:rPr>
              <a:t> processing, a model specifically adapted to labeled, </a:t>
            </a:r>
            <a:r>
              <a:rPr sz="2800" b="0" i="0" dirty="0" err="1">
                <a:solidFill>
                  <a:srgbClr val="FFFFFF"/>
                </a:solidFill>
                <a:latin typeface="Calibri"/>
              </a:rPr>
              <a:t>indomain</a:t>
            </a:r>
            <a:r>
              <a:rPr sz="2800" b="0" i="0" dirty="0">
                <a:solidFill>
                  <a:srgbClr val="FFFFFF"/>
                </a:solidFill>
                <a:latin typeface="Calibri"/>
              </a:rPr>
              <a:t> data </a:t>
            </a:r>
            <a:r>
              <a:rPr lang="en-IL" sz="2800" b="0" i="0" dirty="0">
                <a:solidFill>
                  <a:srgbClr val="FFFFFF"/>
                </a:solidFill>
                <a:latin typeface="Calibri"/>
              </a:rPr>
              <a:t>-</a:t>
            </a:r>
            <a:r>
              <a:rPr sz="2800" b="0" i="0" dirty="0">
                <a:solidFill>
                  <a:srgbClr val="FFFFFF"/>
                </a:solidFill>
                <a:latin typeface="Calibri"/>
              </a:rPr>
              <a:t> whether judging rewrite quality or classifying sarcasm directly </a:t>
            </a:r>
            <a:r>
              <a:rPr lang="en-IL" sz="2800" b="0" i="0" dirty="0">
                <a:solidFill>
                  <a:srgbClr val="FFFFFF"/>
                </a:solidFill>
                <a:latin typeface="Calibri"/>
              </a:rPr>
              <a:t>-</a:t>
            </a:r>
            <a:r>
              <a:rPr sz="2800" b="0" i="0" dirty="0">
                <a:solidFill>
                  <a:srgbClr val="FFFFFF"/>
                </a:solidFill>
                <a:latin typeface="Calibri"/>
              </a:rPr>
              <a:t> outperforms a </a:t>
            </a:r>
            <a:r>
              <a:rPr sz="2800" b="0" i="0" dirty="0" err="1">
                <a:solidFill>
                  <a:srgbClr val="FFFFFF"/>
                </a:solidFill>
                <a:latin typeface="Calibri"/>
              </a:rPr>
              <a:t>generalpurpose</a:t>
            </a:r>
            <a:r>
              <a:rPr sz="2800" b="0" i="0" dirty="0">
                <a:solidFill>
                  <a:srgbClr val="FFFFFF"/>
                </a:solidFill>
                <a:latin typeface="Calibri"/>
              </a:rPr>
              <a:t> LLM prompted zero/</a:t>
            </a:r>
            <a:r>
              <a:rPr sz="2800" b="0" i="0" dirty="0" err="1">
                <a:solidFill>
                  <a:srgbClr val="FFFFFF"/>
                </a:solidFill>
                <a:latin typeface="Calibri"/>
              </a:rPr>
              <a:t>fewshot</a:t>
            </a:r>
            <a:r>
              <a:rPr sz="2800" b="0" i="0" dirty="0">
                <a:solidFill>
                  <a:srgbClr val="FFFFFF"/>
                </a:solidFill>
                <a:latin typeface="Calibri"/>
              </a:rPr>
              <a:t>. Adding “intelligence” to prompts (examples, reasoning chains, more elaborate phrasing) did not help, and at times actively hurt, in either phase.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8000" y="39737106"/>
            <a:ext cx="28980000" cy="360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275" b="1" i="0" dirty="0">
                <a:solidFill>
                  <a:srgbClr val="0B2A4A"/>
                </a:solidFill>
                <a:latin typeface="Calibri"/>
              </a:rPr>
              <a:t>REFERENCES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8000" y="40277106"/>
            <a:ext cx="28980000" cy="655949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0"/>
              </a:spcAft>
            </a:pPr>
            <a:r>
              <a:rPr sz="1837" b="0" i="0" dirty="0">
                <a:solidFill>
                  <a:srgbClr val="555555"/>
                </a:solidFill>
                <a:latin typeface="Calibri"/>
              </a:rPr>
              <a:t>[1] Peled &amp; Reichart (2017). Sarcasm SIGN: Interpreting Sarcasm with Sentiment Based Monolingual Machine Translation. ACL 2017.   [2] </a:t>
            </a:r>
            <a:r>
              <a:rPr sz="1837" b="0" i="0" dirty="0" err="1">
                <a:solidFill>
                  <a:srgbClr val="555555"/>
                </a:solidFill>
                <a:latin typeface="Calibri"/>
              </a:rPr>
              <a:t>Oraby</a:t>
            </a:r>
            <a:r>
              <a:rPr sz="1837" b="0" i="0" dirty="0">
                <a:solidFill>
                  <a:srgbClr val="555555"/>
                </a:solidFill>
                <a:latin typeface="Calibri"/>
              </a:rPr>
              <a:t> et al. (2016). Creating and Characterizing a Diverse Corpus of Sarcasm in Dialogue. SIGDIAL 2016.   [3] Calderon, Reichart &amp; Dror (2025). The Alternative Annotator Test for </a:t>
            </a:r>
            <a:r>
              <a:rPr sz="1837" b="0" i="0" dirty="0" err="1">
                <a:solidFill>
                  <a:srgbClr val="555555"/>
                </a:solidFill>
                <a:latin typeface="Calibri"/>
              </a:rPr>
              <a:t>LLMasaJudge</a:t>
            </a:r>
            <a:r>
              <a:rPr sz="1837" b="0" i="0" dirty="0">
                <a:solidFill>
                  <a:srgbClr val="555555"/>
                </a:solidFill>
                <a:latin typeface="Calibri"/>
              </a:rPr>
              <a:t>. ACL 2025.   [4] He, Gao &amp; Chen (2023). DeBERTaV3. ICLR 2023.   [5] Khattab et al. (2024). </a:t>
            </a:r>
            <a:r>
              <a:rPr sz="1837" b="0" i="0" dirty="0" err="1">
                <a:solidFill>
                  <a:srgbClr val="555555"/>
                </a:solidFill>
                <a:latin typeface="Calibri"/>
              </a:rPr>
              <a:t>DSPy</a:t>
            </a:r>
            <a:r>
              <a:rPr sz="1837" b="0" i="0" dirty="0">
                <a:solidFill>
                  <a:srgbClr val="555555"/>
                </a:solidFill>
                <a:latin typeface="Calibri"/>
              </a:rPr>
              <a:t>: Compiling Declarative Language Model Calls into </a:t>
            </a:r>
            <a:r>
              <a:rPr sz="1837" b="0" i="0" dirty="0" err="1">
                <a:solidFill>
                  <a:srgbClr val="555555"/>
                </a:solidFill>
                <a:latin typeface="Calibri"/>
              </a:rPr>
              <a:t>SelfImproving</a:t>
            </a:r>
            <a:r>
              <a:rPr sz="1837" b="0" i="0" dirty="0">
                <a:solidFill>
                  <a:srgbClr val="555555"/>
                </a:solidFill>
                <a:latin typeface="Calibri"/>
              </a:rPr>
              <a:t> Pipelines. ICLR 2024.   [6] Qwen Team, Alibaba Cloud (2025). Qwen3 Technical Report.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27422362"/>
            <a:ext cx="30276000" cy="500000"/>
          </a:xfrm>
          <a:prstGeom prst="rect">
            <a:avLst/>
          </a:prstGeom>
          <a:solidFill>
            <a:srgbClr val="0B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8000" y="27500362"/>
            <a:ext cx="28980000" cy="42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97" b="1">
                <a:solidFill>
                  <a:srgbClr val="FFFFFF"/>
                </a:solidFill>
                <a:latin typeface="Calibri"/>
              </a:rPr>
              <a:t>PART III - SIGN GENERALIZATION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8000" y="28010362"/>
            <a:ext cx="9276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97" b="1">
                <a:solidFill>
                  <a:srgbClr val="0B2A4A"/>
                </a:solidFill>
                <a:latin typeface="Calibri"/>
              </a:rPr>
              <a:t>Setup &amp; Method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500000" y="28010362"/>
            <a:ext cx="9276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97" b="1">
                <a:solidFill>
                  <a:srgbClr val="0B2A4A"/>
                </a:solidFill>
                <a:latin typeface="Calibri"/>
              </a:rPr>
              <a:t>Evidence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0352000" y="28010362"/>
            <a:ext cx="9276000" cy="23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397" b="1">
                <a:solidFill>
                  <a:srgbClr val="0B2A4A"/>
                </a:solidFill>
                <a:latin typeface="Calibri"/>
              </a:rPr>
              <a:t>Key Results &amp; Conclusion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8000" y="28328362"/>
            <a:ext cx="9276000" cy="87474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3">
                <a:solidFill>
                  <a:srgbClr val="4EB39A"/>
                </a:solidFill>
                <a:latin typeface="Calibri"/>
              </a:rPr>
              <a:t>■  </a:t>
            </a:r>
            <a:r>
              <a:rPr sz="1903" b="1">
                <a:solidFill>
                  <a:srgbClr val="1A1A1A"/>
                </a:solidFill>
                <a:latin typeface="Calibri"/>
              </a:rPr>
              <a:t>Question: </a:t>
            </a:r>
            <a:r>
              <a:rPr sz="1903">
                <a:solidFill>
                  <a:srgbClr val="1A1A1A"/>
                </a:solidFill>
                <a:latin typeface="Calibri"/>
              </a:rPr>
              <a:t>do Part II's six frozen classifiers generalize to SIGN (tweets + up to 5 human sincere interpretations each)? Task A = detect the sarcastic original; Task B = tell it apart from its own interpretation.</a:t>
            </a:r>
          </a:p>
          <a:p>
            <a:pPr algn="l">
              <a:spcAft>
                <a:spcPts val="600"/>
              </a:spcAft>
            </a:pPr>
            <a:r>
              <a:rPr sz="1903">
                <a:solidFill>
                  <a:srgbClr val="4EB39A"/>
                </a:solidFill>
                <a:latin typeface="Calibri"/>
              </a:rPr>
              <a:t>■  </a:t>
            </a:r>
            <a:r>
              <a:rPr sz="1903" b="1">
                <a:solidFill>
                  <a:srgbClr val="1A1A1A"/>
                </a:solidFill>
                <a:latin typeface="Calibri"/>
              </a:rPr>
              <a:t>Recipe: </a:t>
            </a:r>
            <a:r>
              <a:rPr sz="1903">
                <a:solidFill>
                  <a:srgbClr val="1A1A1A"/>
                </a:solidFill>
                <a:latin typeface="Calibri"/>
              </a:rPr>
              <a:t>zero-transfer first, then combine Dataset A TRAIN + SIGN Train (beats SIGN-only, avoids forgetting Dataset A) - swept across % of SIGN Train used and k interpretations per family.</a:t>
            </a:r>
          </a:p>
          <a:p>
            <a:pPr algn="l">
              <a:spcAft>
                <a:spcPts val="600"/>
              </a:spcAft>
            </a:pPr>
            <a:r>
              <a:rPr sz="1903">
                <a:solidFill>
                  <a:srgbClr val="4EB39A"/>
                </a:solidFill>
                <a:latin typeface="Calibri"/>
              </a:rPr>
              <a:t>■  </a:t>
            </a:r>
            <a:r>
              <a:rPr sz="1903" b="1">
                <a:solidFill>
                  <a:srgbClr val="1A1A1A"/>
                </a:solidFill>
                <a:latin typeface="Calibri"/>
              </a:rPr>
              <a:t>Rigor: </a:t>
            </a:r>
            <a:r>
              <a:rPr sz="1903">
                <a:solidFill>
                  <a:srgbClr val="1A1A1A"/>
                </a:solidFill>
                <a:latin typeface="Calibri"/>
              </a:rPr>
              <a:t>family-safe splits (no tweet-family ever leaks across train/eval); a manual row-by-row review of predictions found ~28% of "sincere" interpretations are exact duplicates of their own sarcastic original - a real data-quality ceiling, disclosed not filtered.</a:t>
            </a:r>
          </a:p>
          <a:p>
            <a:pPr>
              <a:spcAft>
                <a:spcPts val="600"/>
              </a:spcAft>
            </a:pPr>
            <a:r>
              <a:rPr sz="1903">
                <a:solidFill>
                  <a:srgbClr val="4EB39A"/>
                </a:solidFill>
                <a:latin typeface="Calibri"/>
              </a:rPr>
              <a:t>■  </a:t>
            </a:r>
            <a:r>
              <a:rPr sz="1903" b="1">
                <a:solidFill>
                  <a:srgbClr val="1A1A1A"/>
                </a:solidFill>
                <a:latin typeface="Calibri"/>
              </a:rPr>
              <a:t>Domain shift confirmed: </a:t>
            </a:r>
            <a:r>
              <a:rPr sz="1903">
                <a:solidFill>
                  <a:srgbClr val="1A1A1A"/>
                </a:solidFill>
                <a:latin typeface="Calibri"/>
              </a:rPr>
              <a:t>SIGN tweets average 13.9 words vs. Dataset A's 48.7; punctuation/casing almost entirely stripped -- forum debate vs. tweet-length text, a real genre gap (Phase 2).</a:t>
            </a:r>
          </a:p>
          <a:p>
            <a:pPr>
              <a:spcAft>
                <a:spcPts val="600"/>
              </a:spcAft>
            </a:pPr>
            <a:r>
              <a:rPr sz="1903">
                <a:solidFill>
                  <a:srgbClr val="4EB39A"/>
                </a:solidFill>
                <a:latin typeface="Calibri"/>
              </a:rPr>
              <a:t>■  </a:t>
            </a:r>
            <a:r>
              <a:rPr sz="1903" b="1">
                <a:solidFill>
                  <a:srgbClr val="1A1A1A"/>
                </a:solidFill>
                <a:latin typeface="Calibri"/>
              </a:rPr>
              <a:t>Family-aware views: </a:t>
            </a:r>
            <a:r>
              <a:rPr sz="1903">
                <a:solidFill>
                  <a:srgbClr val="1A1A1A"/>
                </a:solidFill>
                <a:latin typeface="Calibri"/>
              </a:rPr>
              <a:t>beyond the two tasks, a Primary-Reference view (original vs. the single best interpretation) and a Full-Family view (original + all 5) test whether easier sub-cases hide behind the headline numbers.</a:t>
            </a:r>
          </a:p>
        </p:txBody>
      </p:sp>
      <p:pic>
        <p:nvPicPr>
          <p:cNvPr id="60" name="Picture 59" descr="learning_curv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558000" y="28328362"/>
            <a:ext cx="9160000" cy="4148713"/>
          </a:xfrm>
          <a:prstGeom prst="rect">
            <a:avLst/>
          </a:prstGeom>
        </p:spPr>
      </p:pic>
      <p:sp>
        <p:nvSpPr>
          <p:cNvPr id="61" name="TextBox 60"/>
          <p:cNvSpPr txBox="1"/>
          <p:nvPr/>
        </p:nvSpPr>
        <p:spPr>
          <a:xfrm>
            <a:off x="10500000" y="32497075"/>
            <a:ext cx="92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80">
                <a:solidFill>
                  <a:srgbClr val="1A1A1A"/>
                </a:solidFill>
                <a:latin typeface="Calibri"/>
              </a:rPr>
              <a:t>Fig. 9 - Learning curve: Macro F1 &amp; detection rate vs. % SIGN Train used (M1 vs. M6)</a:t>
            </a:r>
          </a:p>
        </p:txBody>
      </p:sp>
      <p:pic>
        <p:nvPicPr>
          <p:cNvPr id="62" name="Picture 61" descr="ablation_chart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558000" y="32747075"/>
            <a:ext cx="9160000" cy="4148713"/>
          </a:xfrm>
          <a:prstGeom prst="rect">
            <a:avLst/>
          </a:prstGeom>
        </p:spPr>
      </p:pic>
      <p:sp>
        <p:nvSpPr>
          <p:cNvPr id="63" name="TextBox 62"/>
          <p:cNvSpPr txBox="1"/>
          <p:nvPr/>
        </p:nvSpPr>
        <p:spPr>
          <a:xfrm>
            <a:off x="10500000" y="36915788"/>
            <a:ext cx="9276000" cy="1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80">
                <a:solidFill>
                  <a:srgbClr val="1A1A1A"/>
                </a:solidFill>
                <a:latin typeface="Calibri"/>
              </a:rPr>
              <a:t>Fig. 10 - Interpretation-count ablation: Macro F1 &amp; detection rate vs. k (M1 vs. M6)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0352000" y="28328362"/>
            <a:ext cx="9276000" cy="87474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903">
                <a:solidFill>
                  <a:srgbClr val="4EB39A"/>
                </a:solidFill>
                <a:latin typeface="Calibri"/>
              </a:rPr>
              <a:t>■  </a:t>
            </a:r>
            <a:r>
              <a:rPr sz="1903" b="1">
                <a:solidFill>
                  <a:srgbClr val="1A1A1A"/>
                </a:solidFill>
                <a:latin typeface="Calibri"/>
              </a:rPr>
              <a:t>Zero-transfer: </a:t>
            </a:r>
            <a:r>
              <a:rPr sz="1903">
                <a:solidFill>
                  <a:srgbClr val="1A1A1A"/>
                </a:solidFill>
                <a:latin typeface="Calibri"/>
              </a:rPr>
              <a:t>collapses on Task B (M6: 0.82 -&gt; 0.47 Macro F1) but still detects most originals (M1 79.6%, M6 63.8%) - the failure is discrimination, not detection.</a:t>
            </a:r>
          </a:p>
          <a:p>
            <a:pPr algn="l">
              <a:spcAft>
                <a:spcPts val="600"/>
              </a:spcAft>
            </a:pPr>
            <a:r>
              <a:rPr sz="1903">
                <a:solidFill>
                  <a:srgbClr val="4EB39A"/>
                </a:solidFill>
                <a:latin typeface="Calibri"/>
              </a:rPr>
              <a:t>■  </a:t>
            </a:r>
            <a:r>
              <a:rPr sz="1903" b="1">
                <a:solidFill>
                  <a:srgbClr val="1A1A1A"/>
                </a:solidFill>
                <a:latin typeface="Calibri"/>
              </a:rPr>
              <a:t>Domain adaptation: </a:t>
            </a:r>
            <a:r>
              <a:rPr sz="1903">
                <a:solidFill>
                  <a:srgbClr val="1A1A1A"/>
                </a:solidFill>
                <a:latin typeface="Calibri"/>
              </a:rPr>
              <a:t>combining SIGN Train with Dataset A (not replacing it) closes most of the SIGN gap while Dataset A stays intact - M6 0.82 -&gt; 0.82 exactly, M1 0.74 -&gt; 0.75.</a:t>
            </a:r>
          </a:p>
          <a:p>
            <a:pPr algn="l">
              <a:spcAft>
                <a:spcPts val="600"/>
              </a:spcAft>
            </a:pPr>
            <a:r>
              <a:rPr sz="1903">
                <a:solidFill>
                  <a:srgbClr val="4EB39A"/>
                </a:solidFill>
                <a:latin typeface="Calibri"/>
              </a:rPr>
              <a:t>■  </a:t>
            </a:r>
            <a:r>
              <a:rPr sz="1903" b="1">
                <a:solidFill>
                  <a:srgbClr val="1A1A1A"/>
                </a:solidFill>
                <a:latin typeface="Calibri"/>
              </a:rPr>
              <a:t>Sharpest finding: </a:t>
            </a:r>
            <a:r>
              <a:rPr sz="1903">
                <a:solidFill>
                  <a:srgbClr val="1A1A1A"/>
                </a:solidFill>
                <a:latin typeface="Calibri"/>
              </a:rPr>
              <a:t>more SIGN data or interpretations improve M6 on both Task A and Task B; the same signal forces M1 to trade Task A for Task B (74.7% -&gt; 55.9% detection as k grows) - a real model-capacity contrast, repeated across 3 independent experiments.</a:t>
            </a:r>
          </a:p>
          <a:p>
            <a:pPr>
              <a:spcAft>
                <a:spcPts val="600"/>
              </a:spcAft>
            </a:pPr>
            <a:r>
              <a:rPr sz="1903">
                <a:solidFill>
                  <a:srgbClr val="4EB39A"/>
                </a:solidFill>
                <a:latin typeface="Calibri"/>
              </a:rPr>
              <a:t>■  </a:t>
            </a:r>
            <a:r>
              <a:rPr sz="1903" b="1">
                <a:solidFill>
                  <a:srgbClr val="1A1A1A"/>
                </a:solidFill>
                <a:latin typeface="Calibri"/>
              </a:rPr>
              <a:t>Family evaluation: </a:t>
            </a:r>
            <a:r>
              <a:rPr sz="1903">
                <a:solidFill>
                  <a:srgbClr val="1A1A1A"/>
                </a:solidFill>
                <a:latin typeface="Calibri"/>
              </a:rPr>
              <a:t>getting an entire family right (original + all 5 interpretations) is near-unsolved for every method (0-3.8%) -- one interpretation right per family is plausible, all five is not.</a:t>
            </a:r>
          </a:p>
          <a:p>
            <a:pPr>
              <a:spcAft>
                <a:spcPts val="600"/>
              </a:spcAft>
            </a:pPr>
            <a:r>
              <a:rPr sz="1903">
                <a:solidFill>
                  <a:srgbClr val="4EB39A"/>
                </a:solidFill>
                <a:latin typeface="Calibri"/>
              </a:rPr>
              <a:t>■  </a:t>
            </a:r>
            <a:r>
              <a:rPr sz="1903" b="1">
                <a:solidFill>
                  <a:srgbClr val="1A1A1A"/>
                </a:solidFill>
                <a:latin typeface="Calibri"/>
              </a:rPr>
              <a:t>Cross-phase link: </a:t>
            </a:r>
            <a:r>
              <a:rPr sz="1903">
                <a:solidFill>
                  <a:srgbClr val="1A1A1A"/>
                </a:solidFill>
                <a:latin typeface="Calibri"/>
              </a:rPr>
              <a:t>zero-shot Qwen3-4B detects 93.6% of SIGN originals (Task A) -- far above its own weaker Dataset A score -- pointing to a calibration limitation in prompted classification, not an inability to recognize sarcasm.</a:t>
            </a:r>
          </a:p>
          <a:p>
            <a:pPr>
              <a:spcBef>
                <a:spcPts val="1000"/>
              </a:spcBef>
            </a:pPr>
            <a:r>
              <a:rPr sz="1903" i="1">
                <a:solidFill>
                  <a:srgbClr val="0B2A4A"/>
                </a:solidFill>
                <a:latin typeface="Calibri"/>
              </a:rPr>
              <a:t>Conclusion: sarcasm detection transfers reasonably out-of-domain; the real gap is contrastive discrimination, closed by combining (not replacing) training data - at a real cost for a capacity-limited model, near-zero cost for a fine-tuned 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1202</Words>
  <Application>Microsoft Macintosh PowerPoint</Application>
  <PresentationFormat>Custom</PresentationFormat>
  <Paragraphs>74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Aya Grabarsky</cp:lastModifiedBy>
  <cp:revision>4</cp:revision>
  <dcterms:created xsi:type="dcterms:W3CDTF">2013-01-27T09:14:16Z</dcterms:created>
  <dcterms:modified xsi:type="dcterms:W3CDTF">2026-08-22T08:59:24Z</dcterms:modified>
  <cp:category/>
</cp:coreProperties>
</file>