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92000" cy="1512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Macro F1</c:v>
                </c:pt>
              </c:strCache>
            </c:strRef>
          </c:tx>
          <c:dPt>
            <c:idx val="0"/>
            <c:spPr>
              <a:solidFill>
                <a:srgbClr val="EDA100"/>
              </a:solidFill>
              <a:ln>
                <a:noFill/>
              </a:ln>
            </c:spPr>
          </c:dPt>
          <c:dPt>
            <c:idx val="1"/>
            <c:spPr>
              <a:solidFill>
                <a:srgbClr val="1BAF7A"/>
              </a:solidFill>
              <a:ln>
                <a:noFill/>
              </a:ln>
            </c:spPr>
          </c:dPt>
          <c:dPt>
            <c:idx val="2"/>
            <c:spPr>
              <a:solidFill>
                <a:srgbClr val="EB6834"/>
              </a:solidFill>
              <a:ln>
                <a:noFill/>
              </a:ln>
            </c:spPr>
          </c:dPt>
          <c:dPt>
            <c:idx val="3"/>
            <c:spPr>
              <a:solidFill>
                <a:srgbClr val="E87BA4"/>
              </a:solidFill>
              <a:ln>
                <a:noFill/>
              </a:ln>
            </c:spPr>
          </c:dPt>
          <c:dPt>
            <c:idx val="4"/>
            <c:spPr>
              <a:solidFill>
                <a:srgbClr val="2A78D6"/>
              </a:solidFill>
              <a:ln>
                <a:noFill/>
              </a:ln>
            </c:spPr>
          </c:dPt>
          <c:dPt>
            <c:idx val="5"/>
            <c:spPr>
              <a:solidFill>
                <a:srgbClr val="008300"/>
              </a:solidFill>
              <a:ln>
                <a:noFill/>
              </a:ln>
            </c:spPr>
          </c:dPt>
          <c:cat>
            <c:strRef>
              <c:f>Sheet1!$A$2:$A$7</c:f>
              <c:strCache>
                <c:ptCount val="6"/>
                <c:pt idx="0">
                  <c:v>M4</c:v>
                </c:pt>
                <c:pt idx="1">
                  <c:v>M3</c:v>
                </c:pt>
                <c:pt idx="2">
                  <c:v>M2</c:v>
                </c:pt>
                <c:pt idx="3">
                  <c:v>M5</c:v>
                </c:pt>
                <c:pt idx="4">
                  <c:v>M1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0.5758</c:v>
                </c:pt>
                <c:pt idx="1">
                  <c:v>0.5947</c:v>
                </c:pt>
                <c:pt idx="2">
                  <c:v>0.6005</c:v>
                </c:pt>
                <c:pt idx="3">
                  <c:v>0.6681</c:v>
                </c:pt>
                <c:pt idx="4">
                  <c:v>0.7403</c:v>
                </c:pt>
                <c:pt idx="5">
                  <c:v>0.8209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300" b="1">
                  <a:solidFill>
                    <a:srgbClr val="0B0B0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1E0D9"/>
            </a:solidFill>
          </a:ln>
        </c:spPr>
        <c:txPr>
          <a:bodyPr/>
          <a:lstStyle/>
          <a:p>
            <a:pPr>
              <a:defRPr sz="1300" b="1">
                <a:solidFill>
                  <a:srgbClr val="52514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9"/>
          <c:min val="0.0"/>
        </c:scaling>
        <c:delete val="0"/>
        <c:axPos val="l"/>
        <c:majorGridlines>
          <c:spPr>
            <a:ln w="6350">
              <a:solidFill>
                <a:srgbClr val="E1E0D9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898781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15120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2000" y="432000"/>
            <a:ext cx="9828000" cy="1728000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2000" y="2088000"/>
            <a:ext cx="9828000" cy="72000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000" y="594000"/>
            <a:ext cx="5652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SARCASM INTERPRETATION AND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4000" y="1278000"/>
            <a:ext cx="5652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DCE6F1"/>
                </a:solidFill>
                <a:latin typeface="Calibri"/>
              </a:rPr>
              <a:t>From neutralizing sarcastic text to classifying it: benchmarking LLMs, prompt optimization, and a fine-tuned Transformer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4000" y="1800000"/>
            <a:ext cx="5652000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C7D6EA"/>
                </a:solidFill>
                <a:latin typeface="Calibri"/>
              </a:rPr>
              <a:t>Anat · Sofia · Aya Grabarsky · Yehoraz    |    Supervisor: Lotem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32000" y="647999"/>
            <a:ext cx="3528000" cy="1295999"/>
          </a:xfrm>
          <a:prstGeom prst="roundRect">
            <a:avLst>
              <a:gd name="adj" fmla="val 4500"/>
            </a:avLst>
          </a:prstGeom>
          <a:noFill/>
          <a:ln w="12700">
            <a:solidFill>
              <a:srgbClr val="5E82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32000" y="647999"/>
            <a:ext cx="3528000" cy="1295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200" b="1" i="0">
                <a:solidFill>
                  <a:srgbClr val="9FB7D8"/>
                </a:solidFill>
                <a:latin typeface="Calibri"/>
              </a:rPr>
              <a:t>TECHNION</a:t>
            </a:r>
          </a:p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200" b="1" i="0">
                <a:solidFill>
                  <a:srgbClr val="9FB7D8"/>
                </a:solidFill>
                <a:latin typeface="Calibri"/>
              </a:rPr>
              <a:t>Israel Institute of Technology</a:t>
            </a:r>
          </a:p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200" b="1" i="0">
                <a:solidFill>
                  <a:srgbClr val="9FB7D8"/>
                </a:solidFill>
                <a:latin typeface="Calibri"/>
              </a:rPr>
              <a:t>Project in Design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000" y="2322000"/>
            <a:ext cx="9828000" cy="540000"/>
          </a:xfrm>
          <a:prstGeom prst="roundRect">
            <a:avLst>
              <a:gd name="adj" fmla="val 4500"/>
            </a:avLst>
          </a:prstGeom>
          <a:solidFill>
            <a:srgbClr val="FFF6E6"/>
          </a:solidFill>
          <a:ln w="12700">
            <a:solidFill>
              <a:srgbClr val="EDA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999" y="2322000"/>
            <a:ext cx="9396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0B0B0B"/>
                </a:solidFill>
                <a:latin typeface="Calibri"/>
              </a:rPr>
              <a:t>Can a machine tell when we don't mean what we say?  </a:t>
            </a:r>
            <a:r>
              <a:rPr sz="1200" b="0" i="0">
                <a:solidFill>
                  <a:srgbClr val="52514E"/>
                </a:solidFill>
                <a:latin typeface="Calibri"/>
              </a:rPr>
              <a:t>Two studies, one throughline: rewriting sarcasm sincerely, then detecting it directly.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" y="3024000"/>
            <a:ext cx="9828000" cy="3060000"/>
          </a:xfrm>
          <a:prstGeom prst="roundRect">
            <a:avLst>
              <a:gd name="adj" fmla="val 4500"/>
            </a:avLst>
          </a:prstGeom>
          <a:solidFill>
            <a:srgbClr val="F1F5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57999" y="3150000"/>
            <a:ext cx="9576000" cy="342000"/>
          </a:xfrm>
          <a:prstGeom prst="roundRect">
            <a:avLst>
              <a:gd name="adj" fmla="val 4500"/>
            </a:avLst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1999" y="3150000"/>
            <a:ext cx="7956000" cy="34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PART I  —  SARCASM 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999" y="3150000"/>
            <a:ext cx="9432000" cy="34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 i="0">
                <a:solidFill>
                  <a:srgbClr val="C7D6EA"/>
                </a:solidFill>
                <a:latin typeface="Calibri"/>
              </a:rPr>
              <a:t>rewriting sarcasm sincerely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999" y="3671999"/>
            <a:ext cx="468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0D366B"/>
                </a:solidFill>
                <a:latin typeface="Calibri"/>
              </a:rPr>
              <a:t>THE 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999" y="3906000"/>
            <a:ext cx="468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Sarcastic tweet  →  </a:t>
            </a:r>
            <a:r>
              <a:rPr sz="1150" b="1" i="0">
                <a:solidFill>
                  <a:srgbClr val="0B0B0B"/>
                </a:solidFill>
                <a:latin typeface="Calibri"/>
              </a:rPr>
              <a:t>LLM rewrites it sincerely</a:t>
            </a:r>
            <a:r>
              <a:rPr sz="1150" b="0" i="0">
                <a:solidFill>
                  <a:srgbClr val="52514E"/>
                </a:solidFill>
                <a:latin typeface="Calibri"/>
              </a:rPr>
              <a:t>  →  scored 3 ways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999" y="4302000"/>
            <a:ext cx="4680000" cy="163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000" b="1">
                <a:solidFill>
                  <a:srgbClr val="256ABF"/>
                </a:solidFill>
                <a:latin typeface="Calibri"/>
              </a:rPr>
              <a:t>●  </a:t>
            </a:r>
            <a:r>
              <a:rPr sz="1100" b="1">
                <a:solidFill>
                  <a:srgbClr val="0B0B0B"/>
                </a:solidFill>
                <a:latin typeface="Calibri"/>
              </a:rPr>
              <a:t>3 generator models, 4 prompts each: </a:t>
            </a:r>
            <a:r>
              <a:rPr sz="1100" b="0">
                <a:solidFill>
                  <a:srgbClr val="0B0B0B"/>
                </a:solidFill>
                <a:latin typeface="Calibri"/>
              </a:rPr>
              <a:t>Gemini 2.5 Flash Lite, Nvidia Nemotron 9B, and Liquid LFM 2.5-1.2B, compared automatically and by a strict LLM judge.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000" b="1">
                <a:solidFill>
                  <a:srgbClr val="256ABF"/>
                </a:solidFill>
                <a:latin typeface="Calibri"/>
              </a:rPr>
              <a:t>●  </a:t>
            </a:r>
            <a:r>
              <a:rPr sz="1100" b="1">
                <a:solidFill>
                  <a:srgbClr val="0B0B0B"/>
                </a:solidFill>
                <a:latin typeface="Calibri"/>
              </a:rPr>
              <a:t>Validated by 3 human annotators </a:t>
            </a:r>
            <a:r>
              <a:rPr sz="1100" b="0">
                <a:solidFill>
                  <a:srgbClr val="0B0B0B"/>
                </a:solidFill>
                <a:latin typeface="Calibri"/>
              </a:rPr>
              <a:t>on a shared 70-tweet sample, scored the same 1–3 scale as the LLM judge — for a direct check of whether the judge can be trusted.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54000" y="3671999"/>
            <a:ext cx="468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0D366B"/>
                </a:solidFill>
                <a:latin typeface="Calibri"/>
              </a:rPr>
              <a:t>KEY FINDING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54000" y="3906000"/>
            <a:ext cx="4680000" cy="612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6510">
            <a:solidFill>
              <a:srgbClr val="0CA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80000" y="3906000"/>
            <a:ext cx="4428000" cy="61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0CA30C"/>
                </a:solidFill>
                <a:latin typeface="Calibri"/>
              </a:rPr>
              <a:t>Alt-Test: PASSED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30" b="0" i="0">
                <a:solidFill>
                  <a:srgbClr val="52514E"/>
                </a:solidFill>
                <a:latin typeface="Calibri"/>
              </a:rPr>
              <a:t>Winning Rate 0.67 · Advantage Probability 0.77 — the LLM judge can validly replace human annotators.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54000" y="4662000"/>
            <a:ext cx="4680000" cy="127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1" i="0">
                <a:solidFill>
                  <a:srgbClr val="0D366B"/>
                </a:solidFill>
                <a:latin typeface="Calibri"/>
              </a:rPr>
              <a:t>But — </a:t>
            </a:r>
            <a:r>
              <a:rPr sz="1150" b="0" i="0">
                <a:solidFill>
                  <a:srgbClr val="0B0B0B"/>
                </a:solidFill>
                <a:latin typeface="Calibri"/>
              </a:rPr>
              <a:t>models often couldn't tell a sentence </a:t>
            </a:r>
            <a:r>
              <a:rPr sz="1150" b="0" i="1">
                <a:solidFill>
                  <a:srgbClr val="0B0B0B"/>
                </a:solidFill>
                <a:latin typeface="Calibri"/>
              </a:rPr>
              <a:t>was</a:t>
            </a:r>
            <a:r>
              <a:rPr sz="1150" b="0" i="0">
                <a:solidFill>
                  <a:srgbClr val="0B0B0B"/>
                </a:solidFill>
                <a:latin typeface="Calibri"/>
              </a:rPr>
              <a:t> sarcastic in the first place, even when told to look for it. No amount of rewriting-prompt refinement fixes a misread input — which motivates Part II.</a:t>
            </a:r>
          </a:p>
        </p:txBody>
      </p:sp>
      <p:sp>
        <p:nvSpPr>
          <p:cNvPr id="23" name="Chevron 22"/>
          <p:cNvSpPr/>
          <p:nvPr/>
        </p:nvSpPr>
        <p:spPr>
          <a:xfrm>
            <a:off x="2736000" y="6245999"/>
            <a:ext cx="5220000" cy="396000"/>
          </a:xfrm>
          <a:prstGeom prst="chevron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THE PIVOT: FROM REWRITING SARCASM TO DETECTING 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2000" y="6803999"/>
            <a:ext cx="9828000" cy="6012000"/>
          </a:xfrm>
          <a:prstGeom prst="roundRect">
            <a:avLst>
              <a:gd name="adj" fmla="val 4500"/>
            </a:avLst>
          </a:prstGeom>
          <a:solidFill>
            <a:srgbClr val="F3F8F3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57999" y="6930000"/>
            <a:ext cx="9576000" cy="342000"/>
          </a:xfrm>
          <a:prstGeom prst="roundRect">
            <a:avLst>
              <a:gd name="adj" fmla="val 4500"/>
            </a:avLst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1999" y="6930000"/>
            <a:ext cx="7956000" cy="34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PART II  —  SARCASM DETECTION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999" y="6930000"/>
            <a:ext cx="9432000" cy="34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 i="0">
                <a:solidFill>
                  <a:srgbClr val="C7D6EA"/>
                </a:solidFill>
                <a:latin typeface="Calibri"/>
              </a:rPr>
              <a:t>six methods, one sealed 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999" y="7452000"/>
            <a:ext cx="309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0D366B"/>
                </a:solidFill>
                <a:latin typeface="Calibri"/>
              </a:rPr>
              <a:t>DATASET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999" y="7650000"/>
            <a:ext cx="3096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250" b="1" i="0">
                <a:solidFill>
                  <a:srgbClr val="0B0B0B"/>
                </a:solidFill>
                <a:latin typeface="Calibri"/>
              </a:rPr>
              <a:t>9,386 posts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000" b="0" i="0">
                <a:solidFill>
                  <a:srgbClr val="52514E"/>
                </a:solidFill>
                <a:latin typeface="Calibri"/>
              </a:rPr>
              <a:t>balanced 50/50 sarcastic / not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000" b="0" i="0">
                <a:solidFill>
                  <a:srgbClr val="52514E"/>
                </a:solidFill>
                <a:latin typeface="Calibri"/>
              </a:rPr>
              <a:t>split 70/15/15, TEST sealed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999" y="8298000"/>
            <a:ext cx="309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0D366B"/>
                </a:solidFill>
                <a:latin typeface="Calibri"/>
              </a:rPr>
              <a:t>SIX METHODS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7999" y="8514000"/>
            <a:ext cx="108000" cy="649799"/>
          </a:xfrm>
          <a:prstGeom prst="roundRect">
            <a:avLst>
              <a:gd name="adj" fmla="val 3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9999" y="8514000"/>
            <a:ext cx="306000" cy="6497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2A78D6"/>
                </a:solidFill>
                <a:latin typeface="Calibri"/>
              </a:rPr>
              <a:t>M1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7999" y="8514000"/>
            <a:ext cx="2646000" cy="6497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0B0B0B"/>
                </a:solidFill>
                <a:latin typeface="Calibri"/>
              </a:rPr>
              <a:t>TF-IDF + Logistic Regression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57999" y="9207000"/>
            <a:ext cx="108000" cy="649799"/>
          </a:xfrm>
          <a:prstGeom prst="roundRect">
            <a:avLst>
              <a:gd name="adj" fmla="val 30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9999" y="9207000"/>
            <a:ext cx="306000" cy="6497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EB6834"/>
                </a:solidFill>
                <a:latin typeface="Calibri"/>
              </a:rPr>
              <a:t>M2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7999" y="9207000"/>
            <a:ext cx="2646000" cy="6497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0B0B0B"/>
                </a:solidFill>
                <a:latin typeface="Calibri"/>
              </a:rPr>
              <a:t>Qwen3-4B zero-shot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57999" y="9900000"/>
            <a:ext cx="108000" cy="649799"/>
          </a:xfrm>
          <a:prstGeom prst="roundRect">
            <a:avLst>
              <a:gd name="adj" fmla="val 30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9999" y="9900000"/>
            <a:ext cx="306000" cy="6497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1BAF7A"/>
                </a:solidFill>
                <a:latin typeface="Calibri"/>
              </a:rPr>
              <a:t>M3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7999" y="9900000"/>
            <a:ext cx="2646000" cy="6497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0B0B0B"/>
                </a:solidFill>
                <a:latin typeface="Calibri"/>
              </a:rPr>
              <a:t>Qwen3-4B few-shot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57999" y="10593000"/>
            <a:ext cx="108000" cy="649799"/>
          </a:xfrm>
          <a:prstGeom prst="roundRect">
            <a:avLst>
              <a:gd name="adj" fmla="val 30000"/>
            </a:avLst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9999" y="10593000"/>
            <a:ext cx="306000" cy="6497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EDA100"/>
                </a:solidFill>
                <a:latin typeface="Calibri"/>
              </a:rPr>
              <a:t>M4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7999" y="10593000"/>
            <a:ext cx="2646000" cy="6497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0B0B0B"/>
                </a:solidFill>
                <a:latin typeface="Calibri"/>
              </a:rPr>
              <a:t>Qwen3-4B reasoning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57999" y="11286000"/>
            <a:ext cx="108000" cy="649799"/>
          </a:xfrm>
          <a:prstGeom prst="roundRect">
            <a:avLst>
              <a:gd name="adj" fmla="val 30000"/>
            </a:avLst>
          </a:prstGeom>
          <a:solidFill>
            <a:srgbClr val="E87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9999" y="11286000"/>
            <a:ext cx="306000" cy="6497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E87BA4"/>
                </a:solidFill>
                <a:latin typeface="Calibri"/>
              </a:rPr>
              <a:t>M5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7999" y="11286000"/>
            <a:ext cx="2646000" cy="6497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0B0B0B"/>
                </a:solidFill>
                <a:latin typeface="Calibri"/>
              </a:rPr>
              <a:t>DSPy MIPROv2-optimized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57999" y="11979000"/>
            <a:ext cx="108000" cy="649799"/>
          </a:xfrm>
          <a:prstGeom prst="roundRect">
            <a:avLst>
              <a:gd name="adj" fmla="val 30000"/>
            </a:avLst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9999" y="11979000"/>
            <a:ext cx="306000" cy="6497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008300"/>
                </a:solidFill>
                <a:latin typeface="Calibri"/>
              </a:rPr>
              <a:t>M6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7999" y="11979000"/>
            <a:ext cx="2646000" cy="6497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0B0B0B"/>
                </a:solidFill>
                <a:latin typeface="Calibri"/>
              </a:rPr>
              <a:t>Fine-tuned DeBERTa-v3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69999" y="7452000"/>
            <a:ext cx="626399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0D366B"/>
                </a:solidFill>
                <a:latin typeface="Calibri"/>
              </a:rPr>
              <a:t>RESULTS  —  TEST MACRO F1 (n = 1,340, held out)</a:t>
            </a:r>
          </a:p>
        </p:txBody>
      </p:sp>
      <p:graphicFrame>
        <p:nvGraphicFramePr>
          <p:cNvPr id="50" name="Chart 49"/>
          <p:cNvGraphicFramePr>
            <a:graphicFrameLocks noGrp="1"/>
          </p:cNvGraphicFramePr>
          <p:nvPr/>
        </p:nvGraphicFramePr>
        <p:xfrm>
          <a:off x="3869999" y="7650000"/>
          <a:ext cx="6263999" cy="3024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1" name="Rounded Rectangle 50"/>
          <p:cNvSpPr/>
          <p:nvPr/>
        </p:nvSpPr>
        <p:spPr>
          <a:xfrm>
            <a:off x="3869999" y="10817999"/>
            <a:ext cx="6263999" cy="468000"/>
          </a:xfrm>
          <a:prstGeom prst="roundRect">
            <a:avLst>
              <a:gd name="adj" fmla="val 4500"/>
            </a:avLst>
          </a:prstGeom>
          <a:solidFill>
            <a:srgbClr val="ECF7EC"/>
          </a:solidFill>
          <a:ln w="13970">
            <a:solidFill>
              <a:srgbClr val="0CA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13999" y="10817999"/>
            <a:ext cx="5975999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 i="0">
                <a:solidFill>
                  <a:srgbClr val="0CA30C"/>
                </a:solidFill>
                <a:latin typeface="Calibri"/>
              </a:rPr>
              <a:t>A small model fine-tuned on labels beats every prompted LLM. </a:t>
            </a:r>
            <a:r>
              <a:rPr sz="1080" b="0" i="0">
                <a:solidFill>
                  <a:srgbClr val="0B0B0B"/>
                </a:solidFill>
                <a:latin typeface="Calibri"/>
              </a:rPr>
              <a:t>M6 (184M params) scores 0.82 — 15–25 points above every 4B-parameter prompted variant, running in minutes instead of hours.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69999" y="11429999"/>
            <a:ext cx="626399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0D366B"/>
                </a:solidFill>
                <a:latin typeface="Calibri"/>
              </a:rPr>
              <a:t>WHY THE LLM METHODS FALL SHORT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69999" y="11645999"/>
            <a:ext cx="6263999" cy="102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000" b="1">
                <a:solidFill>
                  <a:srgbClr val="256ABF"/>
                </a:solidFill>
                <a:latin typeface="Calibri"/>
              </a:rPr>
              <a:t>●  </a:t>
            </a:r>
            <a:r>
              <a:rPr sz="1100" b="1">
                <a:solidFill>
                  <a:srgbClr val="0B0B0B"/>
                </a:solidFill>
                <a:latin typeface="Calibri"/>
              </a:rPr>
              <a:t>Every LLM method over-predicts "sarcastic": </a:t>
            </a:r>
            <a:r>
              <a:rPr sz="1100" b="0">
                <a:solidFill>
                  <a:srgbClr val="0B0B0B"/>
                </a:solidFill>
                <a:latin typeface="Calibri"/>
              </a:rPr>
              <a:t>94–97% sarcastic-recall, but not-sarcastic recall crashes to 28–44%. M1 and M6 stay balanced instead of being prompted toward one answer.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000" b="1">
                <a:solidFill>
                  <a:srgbClr val="256ABF"/>
                </a:solidFill>
                <a:latin typeface="Calibri"/>
              </a:rPr>
              <a:t>●  </a:t>
            </a:r>
            <a:r>
              <a:rPr sz="1100" b="1">
                <a:solidFill>
                  <a:srgbClr val="0B0B0B"/>
                </a:solidFill>
                <a:latin typeface="Calibri"/>
              </a:rPr>
              <a:t>More prompting sophistication didn't help: </a:t>
            </a:r>
            <a:r>
              <a:rPr sz="1100" b="0">
                <a:solidFill>
                  <a:srgbClr val="0B0B0B"/>
                </a:solidFill>
                <a:latin typeface="Calibri"/>
              </a:rPr>
              <a:t>zero-shot beat both few-shot and structured reasoning; only DSPy's automated search improved on it, using fewer demonstrations, not more.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32000" y="12977999"/>
            <a:ext cx="9828000" cy="1007999"/>
          </a:xfrm>
          <a:prstGeom prst="roundRect">
            <a:avLst>
              <a:gd name="adj" fmla="val 4500"/>
            </a:avLst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6000" y="12977999"/>
            <a:ext cx="9180000" cy="1007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100" b="1" i="0">
                <a:solidFill>
                  <a:srgbClr val="EDA100"/>
                </a:solidFill>
                <a:latin typeface="Calibri"/>
              </a:rPr>
              <a:t>OVERALL CONCLUSION   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A model adapted to labeled, in-domain data beats a general-purpose LLM used zero/few-shot — for judging rewrite quality and for detecting sarcasm directly alike.  Recommended production approach: </a:t>
            </a:r>
            <a:r>
              <a:rPr sz="1300" b="1" i="0">
                <a:solidFill>
                  <a:srgbClr val="EDA100"/>
                </a:solidFill>
                <a:latin typeface="Calibri"/>
              </a:rPr>
              <a:t>fine-tuned DeBERTa-v3-base.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32000" y="14130000"/>
            <a:ext cx="9828000" cy="558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2000" y="14130000"/>
            <a:ext cx="6093360" cy="5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60" b="1" i="0">
                <a:solidFill>
                  <a:srgbClr val="0D366B"/>
                </a:solidFill>
                <a:latin typeface="Calibri"/>
              </a:rPr>
              <a:t>Limitations &amp; future work:  </a:t>
            </a:r>
            <a:r>
              <a:rPr sz="960" b="0" i="0">
                <a:solidFill>
                  <a:srgbClr val="52514E"/>
                </a:solidFill>
                <a:latin typeface="Calibri"/>
              </a:rPr>
              <a:t>single base LLM &amp; one GPU generation; single-seed fine-tune. Next: characterize the hardest examples, multi-seed check, confidence-based human review.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21920" y="14130000"/>
            <a:ext cx="3358080" cy="5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100"/>
              </a:spcAft>
            </a:pPr>
            <a:r>
              <a:rPr sz="1050" b="1" i="0">
                <a:solidFill>
                  <a:srgbClr val="0D366B"/>
                </a:solidFill>
                <a:latin typeface="Calibri"/>
              </a:rPr>
              <a:t>github.com/ayagrab/sarcasm</a:t>
            </a:r>
          </a:p>
          <a:p>
            <a:pPr algn="r">
              <a:lnSpc>
                <a:spcPct val="115000"/>
              </a:lnSpc>
              <a:spcAft>
                <a:spcPts val="100"/>
              </a:spcAft>
            </a:pPr>
            <a:r>
              <a:rPr sz="860" b="0" i="0">
                <a:solidFill>
                  <a:srgbClr val="898781"/>
                </a:solidFill>
                <a:latin typeface="Calibri"/>
              </a:rPr>
              <a:t>full report, code, data &amp; results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